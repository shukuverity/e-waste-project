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Times New Roman Bold" panose="02020803070505020304" pitchFamily="18" charset="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66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strathmoreuni-my.sharepoint.com/:x:/g/personal/verity_shuku_o365_strathmore_edu/IQBDsewlXcJWTZE4n0qeuR-xAfOGGoiKnB5eqZDmt7NUCbc?e=xIQsiM"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189803,%20189593%20DESIGN%20DIAGRAMS%20(2)/189803,%20189593%20DESIGN%20DIAGRAMS/Design%20Diagrams/Design%20Diagrams-Final%20use%20case.drawio.png"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189803,%20189593%20DESIGN%20DIAGRAMS%20(2)/189803,%20189593%20DESIGN%20DIAGRAMS/Design%20Diagrams/Design%20Diagrams-Final%20sequence%20diagram.drawio.jpeg"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189803,%20189593%20DESIGN%20DIAGRAMS%20(2)/189803,%20189593%20DESIGN%20DIAGRAMS/Design%20Diagrams/Design%20Diagrams-Final%20class%20diagram.drawio.png"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189803,%20189593%20DESIGN%20DIAGRAMS%20(2)/189803,%20189593%20DESIGN%20DIAGRAMS/Design%20Diagrams/Design%20Diagrams-Final%20ERD.drawio.png"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189803,%20189593%20DESIGN%20DIAGRAMS%20(2)/189803,%20189593%20DESIGN%20DIAGRAMS/Design%20Diagrams/Design%20Diagrams-Final%20database%20schema.drawio.png"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189803,%20189593%20DESIGN%20DIAGRAMS%20(2)/189803,%20189593%20DESIGN%20DIAGRAMS/WireFrames/Admin%20dashboard%201.jpeg" TargetMode="Externa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189803,%20189593%20DESIGN%20DIAGRAMS%20(2)/189803,%20189593%20DESIGN%20DIAGRAMS/WireFrames/Admin%20dashboard%202.jpeg"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189803,%20189593%20DESIGN%20DIAGRAMS%20(2)/189803,%20189593%20DESIGN%20DIAGRAMS/WireFrames/E-waste%20disposal%20dashboard.jpeg"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189803,%20189593%20DESIGN%20DIAGRAMS%20(2)/189803,%20189593%20DESIGN%20DIAGRAMS/WireFrames/Find%20recyclers%20dashboard.jpeg"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189803,%20189593%20DESIGN%20DIAGRAMS%20(2)/189803,%20189593%20DESIGN%20DIAGRAMS/WireFrames/Schedule%20pickup%20dashboard.jpeg"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3801966" y="6448100"/>
            <a:ext cx="10684069" cy="5982936"/>
            <a:chOff x="0" y="0"/>
            <a:chExt cx="2813911" cy="1575753"/>
          </a:xfrm>
        </p:grpSpPr>
        <p:sp>
          <p:nvSpPr>
            <p:cNvPr id="3" name="Freeform 3"/>
            <p:cNvSpPr/>
            <p:nvPr/>
          </p:nvSpPr>
          <p:spPr>
            <a:xfrm>
              <a:off x="0" y="0"/>
              <a:ext cx="2813911" cy="1575753"/>
            </a:xfrm>
            <a:custGeom>
              <a:avLst/>
              <a:gdLst/>
              <a:ahLst/>
              <a:cxnLst/>
              <a:rect l="l" t="t" r="r" b="b"/>
              <a:pathLst>
                <a:path w="2813911" h="1575753">
                  <a:moveTo>
                    <a:pt x="0" y="0"/>
                  </a:moveTo>
                  <a:lnTo>
                    <a:pt x="2813911" y="0"/>
                  </a:lnTo>
                  <a:lnTo>
                    <a:pt x="2813911" y="1575753"/>
                  </a:lnTo>
                  <a:lnTo>
                    <a:pt x="0" y="1575753"/>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2813911" cy="1613853"/>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747542" y="876542"/>
            <a:ext cx="16511758" cy="2130550"/>
          </a:xfrm>
          <a:prstGeom prst="rect">
            <a:avLst/>
          </a:prstGeom>
        </p:spPr>
        <p:txBody>
          <a:bodyPr lIns="0" tIns="0" rIns="0" bIns="0" rtlCol="0" anchor="t">
            <a:spAutoFit/>
          </a:bodyPr>
          <a:lstStyle/>
          <a:p>
            <a:pPr algn="ctr">
              <a:lnSpc>
                <a:spcPts val="7738"/>
              </a:lnSpc>
            </a:pPr>
            <a:r>
              <a:rPr lang="en-US" sz="9553" b="1" spc="-477">
                <a:solidFill>
                  <a:srgbClr val="C1FF72"/>
                </a:solidFill>
                <a:latin typeface="Times New Roman Bold"/>
                <a:ea typeface="Times New Roman Bold"/>
                <a:cs typeface="Times New Roman Bold"/>
                <a:sym typeface="Times New Roman Bold"/>
              </a:rPr>
              <a:t>E-WASTE MANAGEMENT SYSTEM</a:t>
            </a:r>
          </a:p>
        </p:txBody>
      </p:sp>
      <p:sp>
        <p:nvSpPr>
          <p:cNvPr id="6" name="TextBox 6"/>
          <p:cNvSpPr txBox="1"/>
          <p:nvPr/>
        </p:nvSpPr>
        <p:spPr>
          <a:xfrm>
            <a:off x="888121" y="3973709"/>
            <a:ext cx="16511758" cy="5295902"/>
          </a:xfrm>
          <a:prstGeom prst="rect">
            <a:avLst/>
          </a:prstGeom>
        </p:spPr>
        <p:txBody>
          <a:bodyPr lIns="0" tIns="0" rIns="0" bIns="0" rtlCol="0" anchor="t">
            <a:spAutoFit/>
          </a:bodyPr>
          <a:lstStyle/>
          <a:p>
            <a:pPr algn="ctr">
              <a:lnSpc>
                <a:spcPts val="7279"/>
              </a:lnSpc>
              <a:spcBef>
                <a:spcPct val="0"/>
              </a:spcBef>
            </a:pPr>
            <a:r>
              <a:rPr lang="en-US" sz="5199" spc="-207">
                <a:solidFill>
                  <a:srgbClr val="EFF3F6"/>
                </a:solidFill>
                <a:latin typeface="Times New Roman"/>
                <a:ea typeface="Times New Roman"/>
                <a:cs typeface="Times New Roman"/>
                <a:sym typeface="Times New Roman"/>
              </a:rPr>
              <a:t>Silvia Miriti Kajuju             Registration Number: 189803</a:t>
            </a:r>
          </a:p>
          <a:p>
            <a:pPr algn="ctr">
              <a:lnSpc>
                <a:spcPts val="7279"/>
              </a:lnSpc>
              <a:spcBef>
                <a:spcPct val="0"/>
              </a:spcBef>
            </a:pPr>
            <a:r>
              <a:rPr lang="en-US" sz="5199" spc="-207">
                <a:solidFill>
                  <a:srgbClr val="EFF3F6"/>
                </a:solidFill>
                <a:latin typeface="Times New Roman"/>
                <a:ea typeface="Times New Roman"/>
                <a:cs typeface="Times New Roman"/>
                <a:sym typeface="Times New Roman"/>
              </a:rPr>
              <a:t>Shuku Verity Atoko             Registration Number: 189593</a:t>
            </a:r>
          </a:p>
          <a:p>
            <a:pPr algn="ctr">
              <a:lnSpc>
                <a:spcPts val="7279"/>
              </a:lnSpc>
              <a:spcBef>
                <a:spcPct val="0"/>
              </a:spcBef>
            </a:pPr>
            <a:endParaRPr lang="en-US" sz="5199" spc="-207">
              <a:solidFill>
                <a:srgbClr val="EFF3F6"/>
              </a:solidFill>
              <a:latin typeface="Times New Roman"/>
              <a:ea typeface="Times New Roman"/>
              <a:cs typeface="Times New Roman"/>
              <a:sym typeface="Times New Roman"/>
            </a:endParaRPr>
          </a:p>
          <a:p>
            <a:pPr algn="ctr">
              <a:lnSpc>
                <a:spcPts val="7279"/>
              </a:lnSpc>
              <a:spcBef>
                <a:spcPct val="0"/>
              </a:spcBef>
            </a:pPr>
            <a:r>
              <a:rPr lang="en-US" sz="5199" spc="-207">
                <a:solidFill>
                  <a:srgbClr val="EFF3F6"/>
                </a:solidFill>
                <a:latin typeface="Times New Roman"/>
                <a:ea typeface="Times New Roman"/>
                <a:cs typeface="Times New Roman"/>
                <a:sym typeface="Times New Roman"/>
              </a:rPr>
              <a:t>Unit: IT Project 1</a:t>
            </a:r>
          </a:p>
          <a:p>
            <a:pPr algn="ctr">
              <a:lnSpc>
                <a:spcPts val="7279"/>
              </a:lnSpc>
              <a:spcBef>
                <a:spcPct val="0"/>
              </a:spcBef>
            </a:pPr>
            <a:r>
              <a:rPr lang="en-US" sz="5199" spc="-207">
                <a:solidFill>
                  <a:srgbClr val="EFF3F6"/>
                </a:solidFill>
                <a:latin typeface="Times New Roman"/>
                <a:ea typeface="Times New Roman"/>
                <a:cs typeface="Times New Roman"/>
                <a:sym typeface="Times New Roman"/>
              </a:rPr>
              <a:t>Supervisor: Jude Mido</a:t>
            </a:r>
          </a:p>
          <a:p>
            <a:pPr algn="ctr">
              <a:lnSpc>
                <a:spcPts val="5319"/>
              </a:lnSpc>
              <a:spcBef>
                <a:spcPct val="0"/>
              </a:spcBef>
            </a:pPr>
            <a:endParaRPr lang="en-US" sz="5199" spc="-207">
              <a:solidFill>
                <a:srgbClr val="EFF3F6"/>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882629" y="2119211"/>
            <a:ext cx="9796536" cy="691894"/>
          </a:xfrm>
          <a:prstGeom prst="rect">
            <a:avLst/>
          </a:prstGeom>
        </p:spPr>
        <p:txBody>
          <a:bodyPr lIns="0" tIns="0" rIns="0" bIns="0" rtlCol="0" anchor="t">
            <a:spAutoFit/>
          </a:bodyPr>
          <a:lstStyle/>
          <a:p>
            <a:pPr algn="l">
              <a:lnSpc>
                <a:spcPts val="4616"/>
              </a:lnSpc>
            </a:pPr>
            <a:r>
              <a:rPr lang="en-US" sz="5699" b="1" spc="-284">
                <a:solidFill>
                  <a:srgbClr val="C1FF72"/>
                </a:solidFill>
                <a:latin typeface="Times New Roman Bold"/>
                <a:ea typeface="Times New Roman Bold"/>
                <a:cs typeface="Times New Roman Bold"/>
                <a:sym typeface="Times New Roman Bold"/>
              </a:rPr>
              <a:t>Problem</a:t>
            </a:r>
          </a:p>
        </p:txBody>
      </p:sp>
      <p:grpSp>
        <p:nvGrpSpPr>
          <p:cNvPr id="3" name="Group 3"/>
          <p:cNvGrpSpPr/>
          <p:nvPr/>
        </p:nvGrpSpPr>
        <p:grpSpPr>
          <a:xfrm rot="-10800000">
            <a:off x="16904575" y="1947761"/>
            <a:ext cx="1383425" cy="4400154"/>
            <a:chOff x="0" y="0"/>
            <a:chExt cx="364359" cy="1158888"/>
          </a:xfrm>
        </p:grpSpPr>
        <p:sp>
          <p:nvSpPr>
            <p:cNvPr id="4" name="Freeform 4"/>
            <p:cNvSpPr/>
            <p:nvPr/>
          </p:nvSpPr>
          <p:spPr>
            <a:xfrm>
              <a:off x="0" y="0"/>
              <a:ext cx="364359" cy="1158888"/>
            </a:xfrm>
            <a:custGeom>
              <a:avLst/>
              <a:gdLst/>
              <a:ahLst/>
              <a:cxnLst/>
              <a:rect l="l" t="t" r="r" b="b"/>
              <a:pathLst>
                <a:path w="364359" h="1158888">
                  <a:moveTo>
                    <a:pt x="0" y="0"/>
                  </a:moveTo>
                  <a:lnTo>
                    <a:pt x="364359" y="0"/>
                  </a:lnTo>
                  <a:lnTo>
                    <a:pt x="364359" y="1158888"/>
                  </a:lnTo>
                  <a:lnTo>
                    <a:pt x="0" y="1158888"/>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5" name="TextBox 5"/>
            <p:cNvSpPr txBox="1"/>
            <p:nvPr/>
          </p:nvSpPr>
          <p:spPr>
            <a:xfrm>
              <a:off x="0" y="-38100"/>
              <a:ext cx="364359" cy="1196988"/>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0" y="4847799"/>
            <a:ext cx="1192660" cy="4410501"/>
            <a:chOff x="0" y="0"/>
            <a:chExt cx="314116" cy="1161613"/>
          </a:xfrm>
        </p:grpSpPr>
        <p:sp>
          <p:nvSpPr>
            <p:cNvPr id="7" name="Freeform 7"/>
            <p:cNvSpPr/>
            <p:nvPr/>
          </p:nvSpPr>
          <p:spPr>
            <a:xfrm>
              <a:off x="0" y="0"/>
              <a:ext cx="314116" cy="1161613"/>
            </a:xfrm>
            <a:custGeom>
              <a:avLst/>
              <a:gdLst/>
              <a:ahLst/>
              <a:cxnLst/>
              <a:rect l="l" t="t" r="r" b="b"/>
              <a:pathLst>
                <a:path w="314116" h="1161613">
                  <a:moveTo>
                    <a:pt x="0" y="0"/>
                  </a:moveTo>
                  <a:lnTo>
                    <a:pt x="314116" y="0"/>
                  </a:lnTo>
                  <a:lnTo>
                    <a:pt x="314116" y="1161613"/>
                  </a:lnTo>
                  <a:lnTo>
                    <a:pt x="0" y="1161613"/>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8" name="TextBox 8"/>
            <p:cNvSpPr txBox="1"/>
            <p:nvPr/>
          </p:nvSpPr>
          <p:spPr>
            <a:xfrm>
              <a:off x="0" y="-38100"/>
              <a:ext cx="314116" cy="1199713"/>
            </a:xfrm>
            <a:prstGeom prst="rect">
              <a:avLst/>
            </a:prstGeom>
          </p:spPr>
          <p:txBody>
            <a:bodyPr lIns="50800" tIns="50800" rIns="50800" bIns="50800" rtlCol="0" anchor="ctr"/>
            <a:lstStyle/>
            <a:p>
              <a:pPr algn="ctr">
                <a:lnSpc>
                  <a:spcPts val="1960"/>
                </a:lnSpc>
              </a:pPr>
              <a:endParaRPr/>
            </a:p>
          </p:txBody>
        </p:sp>
      </p:grpSp>
      <p:sp>
        <p:nvSpPr>
          <p:cNvPr id="9" name="Freeform 9"/>
          <p:cNvSpPr/>
          <p:nvPr/>
        </p:nvSpPr>
        <p:spPr>
          <a:xfrm>
            <a:off x="1959436" y="2154659"/>
            <a:ext cx="656964" cy="656964"/>
          </a:xfrm>
          <a:custGeom>
            <a:avLst/>
            <a:gdLst/>
            <a:ahLst/>
            <a:cxnLst/>
            <a:rect l="l" t="t" r="r" b="b"/>
            <a:pathLst>
              <a:path w="656964" h="656964">
                <a:moveTo>
                  <a:pt x="0" y="0"/>
                </a:moveTo>
                <a:lnTo>
                  <a:pt x="656965" y="0"/>
                </a:lnTo>
                <a:lnTo>
                  <a:pt x="656965" y="656964"/>
                </a:lnTo>
                <a:lnTo>
                  <a:pt x="0" y="65696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KE"/>
          </a:p>
        </p:txBody>
      </p:sp>
      <p:sp>
        <p:nvSpPr>
          <p:cNvPr id="10" name="TextBox 10"/>
          <p:cNvSpPr txBox="1"/>
          <p:nvPr/>
        </p:nvSpPr>
        <p:spPr>
          <a:xfrm>
            <a:off x="2882629" y="5984501"/>
            <a:ext cx="9796536" cy="691896"/>
          </a:xfrm>
          <a:prstGeom prst="rect">
            <a:avLst/>
          </a:prstGeom>
        </p:spPr>
        <p:txBody>
          <a:bodyPr lIns="0" tIns="0" rIns="0" bIns="0" rtlCol="0" anchor="t">
            <a:spAutoFit/>
          </a:bodyPr>
          <a:lstStyle/>
          <a:p>
            <a:pPr algn="l">
              <a:lnSpc>
                <a:spcPts val="4616"/>
              </a:lnSpc>
            </a:pPr>
            <a:r>
              <a:rPr lang="en-US" sz="5699" b="1" spc="-284">
                <a:solidFill>
                  <a:srgbClr val="C1FF72"/>
                </a:solidFill>
                <a:latin typeface="Times New Roman Bold"/>
                <a:ea typeface="Times New Roman Bold"/>
                <a:cs typeface="Times New Roman Bold"/>
                <a:sym typeface="Times New Roman Bold"/>
              </a:rPr>
              <a:t>Proposed solution</a:t>
            </a:r>
          </a:p>
        </p:txBody>
      </p:sp>
      <p:sp>
        <p:nvSpPr>
          <p:cNvPr id="11" name="Freeform 11"/>
          <p:cNvSpPr/>
          <p:nvPr/>
        </p:nvSpPr>
        <p:spPr>
          <a:xfrm>
            <a:off x="1959436" y="6019433"/>
            <a:ext cx="656964" cy="656964"/>
          </a:xfrm>
          <a:custGeom>
            <a:avLst/>
            <a:gdLst/>
            <a:ahLst/>
            <a:cxnLst/>
            <a:rect l="l" t="t" r="r" b="b"/>
            <a:pathLst>
              <a:path w="656964" h="656964">
                <a:moveTo>
                  <a:pt x="0" y="0"/>
                </a:moveTo>
                <a:lnTo>
                  <a:pt x="656965" y="0"/>
                </a:lnTo>
                <a:lnTo>
                  <a:pt x="656965" y="656964"/>
                </a:lnTo>
                <a:lnTo>
                  <a:pt x="0" y="65696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KE"/>
          </a:p>
        </p:txBody>
      </p:sp>
      <p:sp>
        <p:nvSpPr>
          <p:cNvPr id="12" name="TextBox 12"/>
          <p:cNvSpPr txBox="1"/>
          <p:nvPr/>
        </p:nvSpPr>
        <p:spPr>
          <a:xfrm>
            <a:off x="2287919" y="3134995"/>
            <a:ext cx="14616656" cy="2008505"/>
          </a:xfrm>
          <a:prstGeom prst="rect">
            <a:avLst/>
          </a:prstGeom>
        </p:spPr>
        <p:txBody>
          <a:bodyPr lIns="0" tIns="0" rIns="0" bIns="0" rtlCol="0" anchor="t">
            <a:spAutoFit/>
          </a:bodyPr>
          <a:lstStyle/>
          <a:p>
            <a:pPr algn="ctr">
              <a:lnSpc>
                <a:spcPts val="5320"/>
              </a:lnSpc>
              <a:spcBef>
                <a:spcPct val="0"/>
              </a:spcBef>
            </a:pPr>
            <a:r>
              <a:rPr lang="en-US" sz="3800" spc="-152">
                <a:solidFill>
                  <a:srgbClr val="EFF3F6"/>
                </a:solidFill>
                <a:latin typeface="Times New Roman"/>
                <a:ea typeface="Times New Roman"/>
                <a:cs typeface="Times New Roman"/>
                <a:sym typeface="Times New Roman"/>
              </a:rPr>
              <a:t>Electronic waste is growing rapidly with people disposing their phones, computers, batteries and other electronics inappropriately. Many people lack the knowledge on how to dispose of electronic waste responsibly, contributing to pollution.</a:t>
            </a:r>
          </a:p>
        </p:txBody>
      </p:sp>
      <p:sp>
        <p:nvSpPr>
          <p:cNvPr id="13" name="TextBox 13"/>
          <p:cNvSpPr txBox="1"/>
          <p:nvPr/>
        </p:nvSpPr>
        <p:spPr>
          <a:xfrm>
            <a:off x="2287919" y="7000247"/>
            <a:ext cx="14616656" cy="2008505"/>
          </a:xfrm>
          <a:prstGeom prst="rect">
            <a:avLst/>
          </a:prstGeom>
        </p:spPr>
        <p:txBody>
          <a:bodyPr lIns="0" tIns="0" rIns="0" bIns="0" rtlCol="0" anchor="t">
            <a:spAutoFit/>
          </a:bodyPr>
          <a:lstStyle/>
          <a:p>
            <a:pPr algn="ctr">
              <a:lnSpc>
                <a:spcPts val="5320"/>
              </a:lnSpc>
              <a:spcBef>
                <a:spcPct val="0"/>
              </a:spcBef>
            </a:pPr>
            <a:r>
              <a:rPr lang="en-US" sz="3800" spc="-152">
                <a:solidFill>
                  <a:srgbClr val="EFF3F6"/>
                </a:solidFill>
                <a:latin typeface="Times New Roman"/>
                <a:ea typeface="Times New Roman"/>
                <a:cs typeface="Times New Roman"/>
                <a:sym typeface="Times New Roman"/>
              </a:rPr>
              <a:t>A centralized E-Waste Management System will streamline the collection, tracking, and recycling of e-waste by connecting users, administrators, and recyclers through a single platform.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2067347"/>
            <a:ext cx="11512988" cy="721230"/>
          </a:xfrm>
          <a:prstGeom prst="rect">
            <a:avLst/>
          </a:prstGeom>
        </p:spPr>
        <p:txBody>
          <a:bodyPr lIns="0" tIns="0" rIns="0" bIns="0" rtlCol="0" anchor="t">
            <a:spAutoFit/>
          </a:bodyPr>
          <a:lstStyle/>
          <a:p>
            <a:pPr algn="l">
              <a:lnSpc>
                <a:spcPts val="4940"/>
              </a:lnSpc>
            </a:pPr>
            <a:r>
              <a:rPr lang="en-US" sz="6099" b="1" spc="-304">
                <a:solidFill>
                  <a:srgbClr val="C1FF72"/>
                </a:solidFill>
                <a:latin typeface="Times New Roman Bold"/>
                <a:ea typeface="Times New Roman Bold"/>
                <a:cs typeface="Times New Roman Bold"/>
                <a:sym typeface="Times New Roman Bold"/>
              </a:rPr>
              <a:t>Requirements Table</a:t>
            </a:r>
          </a:p>
        </p:txBody>
      </p:sp>
      <p:grpSp>
        <p:nvGrpSpPr>
          <p:cNvPr id="3" name="Group 3"/>
          <p:cNvGrpSpPr/>
          <p:nvPr/>
        </p:nvGrpSpPr>
        <p:grpSpPr>
          <a:xfrm rot="-10800000">
            <a:off x="17625859" y="3342667"/>
            <a:ext cx="1324282" cy="7420608"/>
            <a:chOff x="0" y="0"/>
            <a:chExt cx="348782" cy="1954399"/>
          </a:xfrm>
        </p:grpSpPr>
        <p:sp>
          <p:nvSpPr>
            <p:cNvPr id="4" name="Freeform 4"/>
            <p:cNvSpPr/>
            <p:nvPr/>
          </p:nvSpPr>
          <p:spPr>
            <a:xfrm>
              <a:off x="0" y="0"/>
              <a:ext cx="348782" cy="1954399"/>
            </a:xfrm>
            <a:custGeom>
              <a:avLst/>
              <a:gdLst/>
              <a:ahLst/>
              <a:cxnLst/>
              <a:rect l="l" t="t" r="r" b="b"/>
              <a:pathLst>
                <a:path w="348782" h="1954399">
                  <a:moveTo>
                    <a:pt x="0" y="0"/>
                  </a:moveTo>
                  <a:lnTo>
                    <a:pt x="348782" y="0"/>
                  </a:lnTo>
                  <a:lnTo>
                    <a:pt x="348782" y="1954399"/>
                  </a:lnTo>
                  <a:lnTo>
                    <a:pt x="0" y="1954399"/>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5" name="TextBox 5"/>
            <p:cNvSpPr txBox="1"/>
            <p:nvPr/>
          </p:nvSpPr>
          <p:spPr>
            <a:xfrm>
              <a:off x="0" y="-38100"/>
              <a:ext cx="348782" cy="1992499"/>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295582" y="6594175"/>
            <a:ext cx="1324282" cy="3970933"/>
            <a:chOff x="0" y="0"/>
            <a:chExt cx="348782" cy="1045843"/>
          </a:xfrm>
        </p:grpSpPr>
        <p:sp>
          <p:nvSpPr>
            <p:cNvPr id="7" name="Freeform 7"/>
            <p:cNvSpPr/>
            <p:nvPr/>
          </p:nvSpPr>
          <p:spPr>
            <a:xfrm>
              <a:off x="0" y="0"/>
              <a:ext cx="348782" cy="1045843"/>
            </a:xfrm>
            <a:custGeom>
              <a:avLst/>
              <a:gdLst/>
              <a:ahLst/>
              <a:cxnLst/>
              <a:rect l="l" t="t" r="r" b="b"/>
              <a:pathLst>
                <a:path w="348782" h="1045843">
                  <a:moveTo>
                    <a:pt x="0" y="0"/>
                  </a:moveTo>
                  <a:lnTo>
                    <a:pt x="348782" y="0"/>
                  </a:lnTo>
                  <a:lnTo>
                    <a:pt x="348782" y="1045843"/>
                  </a:lnTo>
                  <a:lnTo>
                    <a:pt x="0" y="1045843"/>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8" name="TextBox 8"/>
            <p:cNvSpPr txBox="1"/>
            <p:nvPr/>
          </p:nvSpPr>
          <p:spPr>
            <a:xfrm>
              <a:off x="0" y="-38100"/>
              <a:ext cx="348782" cy="1083943"/>
            </a:xfrm>
            <a:prstGeom prst="rect">
              <a:avLst/>
            </a:prstGeom>
          </p:spPr>
          <p:txBody>
            <a:bodyPr lIns="50800" tIns="50800" rIns="50800" bIns="50800" rtlCol="0" anchor="ctr"/>
            <a:lstStyle/>
            <a:p>
              <a:pPr algn="ctr">
                <a:lnSpc>
                  <a:spcPts val="1960"/>
                </a:lnSpc>
              </a:pPr>
              <a:endParaRPr/>
            </a:p>
          </p:txBody>
        </p:sp>
      </p:grpSp>
      <p:grpSp>
        <p:nvGrpSpPr>
          <p:cNvPr id="9" name="Group 9"/>
          <p:cNvGrpSpPr/>
          <p:nvPr/>
        </p:nvGrpSpPr>
        <p:grpSpPr>
          <a:xfrm rot="-5400000">
            <a:off x="8481859" y="957134"/>
            <a:ext cx="1324282" cy="18288000"/>
            <a:chOff x="0" y="0"/>
            <a:chExt cx="348782" cy="4816593"/>
          </a:xfrm>
        </p:grpSpPr>
        <p:sp>
          <p:nvSpPr>
            <p:cNvPr id="10" name="Freeform 10"/>
            <p:cNvSpPr/>
            <p:nvPr/>
          </p:nvSpPr>
          <p:spPr>
            <a:xfrm>
              <a:off x="0" y="0"/>
              <a:ext cx="348782" cy="4816592"/>
            </a:xfrm>
            <a:custGeom>
              <a:avLst/>
              <a:gdLst/>
              <a:ahLst/>
              <a:cxnLst/>
              <a:rect l="l" t="t" r="r" b="b"/>
              <a:pathLst>
                <a:path w="348782" h="4816592">
                  <a:moveTo>
                    <a:pt x="0" y="0"/>
                  </a:moveTo>
                  <a:lnTo>
                    <a:pt x="348782" y="0"/>
                  </a:lnTo>
                  <a:lnTo>
                    <a:pt x="348782" y="4816592"/>
                  </a:lnTo>
                  <a:lnTo>
                    <a:pt x="0" y="4816592"/>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11" name="TextBox 11"/>
            <p:cNvSpPr txBox="1"/>
            <p:nvPr/>
          </p:nvSpPr>
          <p:spPr>
            <a:xfrm>
              <a:off x="0" y="-38100"/>
              <a:ext cx="348782" cy="4854693"/>
            </a:xfrm>
            <a:prstGeom prst="rect">
              <a:avLst/>
            </a:prstGeom>
          </p:spPr>
          <p:txBody>
            <a:bodyPr lIns="50800" tIns="50800" rIns="50800" bIns="50800" rtlCol="0" anchor="ctr"/>
            <a:lstStyle/>
            <a:p>
              <a:pPr algn="ctr">
                <a:lnSpc>
                  <a:spcPts val="1960"/>
                </a:lnSpc>
              </a:pPr>
              <a:endParaRPr/>
            </a:p>
          </p:txBody>
        </p:sp>
      </p:grpSp>
      <p:sp>
        <p:nvSpPr>
          <p:cNvPr id="12" name="TextBox 12"/>
          <p:cNvSpPr txBox="1"/>
          <p:nvPr/>
        </p:nvSpPr>
        <p:spPr>
          <a:xfrm>
            <a:off x="1063132" y="4362360"/>
            <a:ext cx="16196168" cy="590226"/>
          </a:xfrm>
          <a:prstGeom prst="rect">
            <a:avLst/>
          </a:prstGeom>
        </p:spPr>
        <p:txBody>
          <a:bodyPr lIns="0" tIns="0" rIns="0" bIns="0" rtlCol="0" anchor="t">
            <a:spAutoFit/>
          </a:bodyPr>
          <a:lstStyle/>
          <a:p>
            <a:pPr algn="ctr">
              <a:lnSpc>
                <a:spcPts val="4919"/>
              </a:lnSpc>
              <a:spcBef>
                <a:spcPct val="0"/>
              </a:spcBef>
            </a:pPr>
            <a:r>
              <a:rPr lang="en-GB" sz="3600" dirty="0">
                <a:hlinkClick r:id="rId2"/>
              </a:rPr>
              <a:t>E-waste disposal Functional requirements (1).xlsx</a:t>
            </a:r>
            <a:endParaRPr lang="en-US" sz="3514" spc="-140" dirty="0">
              <a:solidFill>
                <a:schemeClr val="bg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7259300" y="6208720"/>
            <a:ext cx="1044318" cy="4109622"/>
            <a:chOff x="0" y="0"/>
            <a:chExt cx="275047" cy="1082370"/>
          </a:xfrm>
        </p:grpSpPr>
        <p:sp>
          <p:nvSpPr>
            <p:cNvPr id="3" name="Freeform 3"/>
            <p:cNvSpPr/>
            <p:nvPr/>
          </p:nvSpPr>
          <p:spPr>
            <a:xfrm>
              <a:off x="0" y="0"/>
              <a:ext cx="275047" cy="1082370"/>
            </a:xfrm>
            <a:custGeom>
              <a:avLst/>
              <a:gdLst/>
              <a:ahLst/>
              <a:cxnLst/>
              <a:rect l="l" t="t" r="r" b="b"/>
              <a:pathLst>
                <a:path w="275047" h="1082370">
                  <a:moveTo>
                    <a:pt x="0" y="0"/>
                  </a:moveTo>
                  <a:lnTo>
                    <a:pt x="275047" y="0"/>
                  </a:lnTo>
                  <a:lnTo>
                    <a:pt x="275047" y="1082370"/>
                  </a:lnTo>
                  <a:lnTo>
                    <a:pt x="0" y="1082370"/>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275047" cy="1120470"/>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0" y="6208720"/>
            <a:ext cx="1044318" cy="4109622"/>
            <a:chOff x="0" y="0"/>
            <a:chExt cx="275047" cy="1082370"/>
          </a:xfrm>
        </p:grpSpPr>
        <p:sp>
          <p:nvSpPr>
            <p:cNvPr id="6" name="Freeform 6"/>
            <p:cNvSpPr/>
            <p:nvPr/>
          </p:nvSpPr>
          <p:spPr>
            <a:xfrm>
              <a:off x="0" y="0"/>
              <a:ext cx="275047" cy="1082370"/>
            </a:xfrm>
            <a:custGeom>
              <a:avLst/>
              <a:gdLst/>
              <a:ahLst/>
              <a:cxnLst/>
              <a:rect l="l" t="t" r="r" b="b"/>
              <a:pathLst>
                <a:path w="275047" h="1082370">
                  <a:moveTo>
                    <a:pt x="0" y="0"/>
                  </a:moveTo>
                  <a:lnTo>
                    <a:pt x="275047" y="0"/>
                  </a:lnTo>
                  <a:lnTo>
                    <a:pt x="275047" y="1082370"/>
                  </a:lnTo>
                  <a:lnTo>
                    <a:pt x="0" y="1082370"/>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275047" cy="1120470"/>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0" y="373555"/>
            <a:ext cx="15875172" cy="1647850"/>
          </a:xfrm>
          <a:prstGeom prst="rect">
            <a:avLst/>
          </a:prstGeom>
        </p:spPr>
        <p:txBody>
          <a:bodyPr lIns="0" tIns="0" rIns="0" bIns="0" rtlCol="0" anchor="t">
            <a:spAutoFit/>
          </a:bodyPr>
          <a:lstStyle/>
          <a:p>
            <a:pPr algn="ctr">
              <a:lnSpc>
                <a:spcPts val="13123"/>
              </a:lnSpc>
              <a:spcBef>
                <a:spcPct val="0"/>
              </a:spcBef>
            </a:pPr>
            <a:r>
              <a:rPr lang="en-US" sz="9374" b="1" spc="-374">
                <a:solidFill>
                  <a:srgbClr val="C1FF72"/>
                </a:solidFill>
                <a:latin typeface="Times New Roman Bold"/>
                <a:ea typeface="Times New Roman Bold"/>
                <a:cs typeface="Times New Roman Bold"/>
                <a:sym typeface="Times New Roman Bold"/>
              </a:rPr>
              <a:t>System design diagrams</a:t>
            </a:r>
          </a:p>
        </p:txBody>
      </p:sp>
      <p:sp>
        <p:nvSpPr>
          <p:cNvPr id="9" name="TextBox 9"/>
          <p:cNvSpPr txBox="1"/>
          <p:nvPr/>
        </p:nvSpPr>
        <p:spPr>
          <a:xfrm>
            <a:off x="1561721" y="2862816"/>
            <a:ext cx="15697579" cy="5632853"/>
          </a:xfrm>
          <a:prstGeom prst="rect">
            <a:avLst/>
          </a:prstGeom>
        </p:spPr>
        <p:txBody>
          <a:bodyPr lIns="0" tIns="0" rIns="0" bIns="0" rtlCol="0" anchor="t">
            <a:spAutoFit/>
          </a:bodyPr>
          <a:lstStyle/>
          <a:p>
            <a:pPr algn="ctr">
              <a:lnSpc>
                <a:spcPts val="5577"/>
              </a:lnSpc>
              <a:spcBef>
                <a:spcPct val="0"/>
              </a:spcBef>
            </a:pPr>
            <a:r>
              <a:rPr lang="en-US" sz="3984" spc="-159">
                <a:solidFill>
                  <a:srgbClr val="EFF3F6"/>
                </a:solidFill>
                <a:latin typeface="Times New Roman"/>
                <a:ea typeface="Times New Roman"/>
                <a:cs typeface="Times New Roman"/>
                <a:sym typeface="Times New Roman"/>
              </a:rPr>
              <a:t>This project follows the SSAD approach, and UML diagrams from OOAD are used to model and design the system. The SSAD approach is reflected through :</a:t>
            </a:r>
          </a:p>
          <a:p>
            <a:pPr marL="860173" lvl="1" indent="-430087" algn="l">
              <a:lnSpc>
                <a:spcPts val="5577"/>
              </a:lnSpc>
              <a:spcBef>
                <a:spcPct val="0"/>
              </a:spcBef>
              <a:buFont typeface="Arial"/>
              <a:buChar char="•"/>
            </a:pPr>
            <a:r>
              <a:rPr lang="en-US" sz="3984" spc="-159">
                <a:solidFill>
                  <a:srgbClr val="EFF3F6"/>
                </a:solidFill>
                <a:latin typeface="Times New Roman"/>
                <a:ea typeface="Times New Roman"/>
                <a:cs typeface="Times New Roman"/>
                <a:sym typeface="Times New Roman"/>
              </a:rPr>
              <a:t>database system schema </a:t>
            </a:r>
          </a:p>
          <a:p>
            <a:pPr marL="860173" lvl="1" indent="-430087" algn="l">
              <a:lnSpc>
                <a:spcPts val="5577"/>
              </a:lnSpc>
              <a:spcBef>
                <a:spcPct val="0"/>
              </a:spcBef>
              <a:buFont typeface="Arial"/>
              <a:buChar char="•"/>
            </a:pPr>
            <a:r>
              <a:rPr lang="en-US" sz="3984" spc="-159">
                <a:solidFill>
                  <a:srgbClr val="EFF3F6"/>
                </a:solidFill>
                <a:latin typeface="Times New Roman"/>
                <a:ea typeface="Times New Roman"/>
                <a:cs typeface="Times New Roman"/>
                <a:sym typeface="Times New Roman"/>
              </a:rPr>
              <a:t>wireframes</a:t>
            </a:r>
          </a:p>
          <a:p>
            <a:pPr algn="l">
              <a:lnSpc>
                <a:spcPts val="5577"/>
              </a:lnSpc>
              <a:spcBef>
                <a:spcPct val="0"/>
              </a:spcBef>
            </a:pPr>
            <a:r>
              <a:rPr lang="en-US" sz="3984" spc="-159">
                <a:solidFill>
                  <a:srgbClr val="EFF3F6"/>
                </a:solidFill>
                <a:latin typeface="Times New Roman"/>
                <a:ea typeface="Times New Roman"/>
                <a:cs typeface="Times New Roman"/>
                <a:sym typeface="Times New Roman"/>
              </a:rPr>
              <a:t>while the OOAD approach is represented using </a:t>
            </a:r>
          </a:p>
          <a:p>
            <a:pPr marL="860173" lvl="1" indent="-430087" algn="l">
              <a:lnSpc>
                <a:spcPts val="5577"/>
              </a:lnSpc>
              <a:spcBef>
                <a:spcPct val="0"/>
              </a:spcBef>
              <a:buFont typeface="Arial"/>
              <a:buChar char="•"/>
            </a:pPr>
            <a:r>
              <a:rPr lang="en-US" sz="3984" spc="-159">
                <a:solidFill>
                  <a:srgbClr val="EFF3F6"/>
                </a:solidFill>
                <a:latin typeface="Times New Roman"/>
                <a:ea typeface="Times New Roman"/>
                <a:cs typeface="Times New Roman"/>
                <a:sym typeface="Times New Roman"/>
              </a:rPr>
              <a:t>use case diagram</a:t>
            </a:r>
          </a:p>
          <a:p>
            <a:pPr marL="860173" lvl="1" indent="-430087" algn="l">
              <a:lnSpc>
                <a:spcPts val="5577"/>
              </a:lnSpc>
              <a:spcBef>
                <a:spcPct val="0"/>
              </a:spcBef>
              <a:buFont typeface="Arial"/>
              <a:buChar char="•"/>
            </a:pPr>
            <a:r>
              <a:rPr lang="en-US" sz="3984" spc="-159">
                <a:solidFill>
                  <a:srgbClr val="EFF3F6"/>
                </a:solidFill>
                <a:latin typeface="Times New Roman"/>
                <a:ea typeface="Times New Roman"/>
                <a:cs typeface="Times New Roman"/>
                <a:sym typeface="Times New Roman"/>
              </a:rPr>
              <a:t>class diagram</a:t>
            </a:r>
          </a:p>
          <a:p>
            <a:pPr marL="860173" lvl="1" indent="-430087" algn="l">
              <a:lnSpc>
                <a:spcPts val="5577"/>
              </a:lnSpc>
              <a:spcBef>
                <a:spcPct val="0"/>
              </a:spcBef>
              <a:buFont typeface="Arial"/>
              <a:buChar char="•"/>
            </a:pPr>
            <a:r>
              <a:rPr lang="en-US" sz="3984" spc="-159">
                <a:solidFill>
                  <a:srgbClr val="EFF3F6"/>
                </a:solidFill>
                <a:latin typeface="Times New Roman"/>
                <a:ea typeface="Times New Roman"/>
                <a:cs typeface="Times New Roman"/>
                <a:sym typeface="Times New Roman"/>
              </a:rPr>
              <a:t>Entity Relationship Diagram (ERD)</a:t>
            </a:r>
          </a:p>
        </p:txBody>
      </p:sp>
      <p:sp>
        <p:nvSpPr>
          <p:cNvPr id="10" name="Freeform 10"/>
          <p:cNvSpPr/>
          <p:nvPr/>
        </p:nvSpPr>
        <p:spPr>
          <a:xfrm>
            <a:off x="16117715" y="9432331"/>
            <a:ext cx="656964" cy="656964"/>
          </a:xfrm>
          <a:custGeom>
            <a:avLst/>
            <a:gdLst/>
            <a:ahLst/>
            <a:cxnLst/>
            <a:rect l="l" t="t" r="r" b="b"/>
            <a:pathLst>
              <a:path w="656964" h="656964">
                <a:moveTo>
                  <a:pt x="0" y="0"/>
                </a:moveTo>
                <a:lnTo>
                  <a:pt x="656965" y="0"/>
                </a:lnTo>
                <a:lnTo>
                  <a:pt x="656965" y="656964"/>
                </a:lnTo>
                <a:lnTo>
                  <a:pt x="0" y="65696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KE"/>
          </a:p>
        </p:txBody>
      </p:sp>
      <p:sp>
        <p:nvSpPr>
          <p:cNvPr id="11" name="TextBox 11"/>
          <p:cNvSpPr txBox="1"/>
          <p:nvPr/>
        </p:nvSpPr>
        <p:spPr>
          <a:xfrm>
            <a:off x="13361053" y="9516451"/>
            <a:ext cx="2610644" cy="449686"/>
          </a:xfrm>
          <a:prstGeom prst="rect">
            <a:avLst/>
          </a:prstGeom>
        </p:spPr>
        <p:txBody>
          <a:bodyPr lIns="0" tIns="0" rIns="0" bIns="0" rtlCol="0" anchor="t">
            <a:spAutoFit/>
          </a:bodyPr>
          <a:lstStyle/>
          <a:p>
            <a:pPr algn="ctr">
              <a:lnSpc>
                <a:spcPts val="3564"/>
              </a:lnSpc>
              <a:spcBef>
                <a:spcPct val="0"/>
              </a:spcBef>
            </a:pPr>
            <a:r>
              <a:rPr lang="en-US" sz="2545" spc="-101">
                <a:solidFill>
                  <a:srgbClr val="FFFFFF"/>
                </a:solidFill>
                <a:latin typeface="Times New Roman"/>
                <a:ea typeface="Times New Roman"/>
                <a:cs typeface="Times New Roman"/>
                <a:sym typeface="Times New Roman"/>
              </a:rPr>
              <a:t>shown from next slide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7488249" y="-424467"/>
            <a:ext cx="1259786" cy="11135934"/>
            <a:chOff x="0" y="0"/>
            <a:chExt cx="331796" cy="2932921"/>
          </a:xfrm>
        </p:grpSpPr>
        <p:sp>
          <p:nvSpPr>
            <p:cNvPr id="3" name="Freeform 3"/>
            <p:cNvSpPr/>
            <p:nvPr/>
          </p:nvSpPr>
          <p:spPr>
            <a:xfrm>
              <a:off x="0" y="0"/>
              <a:ext cx="331796" cy="2932921"/>
            </a:xfrm>
            <a:custGeom>
              <a:avLst/>
              <a:gdLst/>
              <a:ahLst/>
              <a:cxnLst/>
              <a:rect l="l" t="t" r="r" b="b"/>
              <a:pathLst>
                <a:path w="331796" h="2932921">
                  <a:moveTo>
                    <a:pt x="0" y="0"/>
                  </a:moveTo>
                  <a:lnTo>
                    <a:pt x="331796" y="0"/>
                  </a:lnTo>
                  <a:lnTo>
                    <a:pt x="331796" y="2932921"/>
                  </a:lnTo>
                  <a:lnTo>
                    <a:pt x="0" y="2932921"/>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331796" cy="2971021"/>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3257022" y="352827"/>
            <a:ext cx="2714364" cy="2008711"/>
            <a:chOff x="0" y="0"/>
            <a:chExt cx="714894" cy="529043"/>
          </a:xfrm>
        </p:grpSpPr>
        <p:sp>
          <p:nvSpPr>
            <p:cNvPr id="6" name="Freeform 6"/>
            <p:cNvSpPr/>
            <p:nvPr/>
          </p:nvSpPr>
          <p:spPr>
            <a:xfrm>
              <a:off x="0" y="0"/>
              <a:ext cx="714894" cy="529043"/>
            </a:xfrm>
            <a:custGeom>
              <a:avLst/>
              <a:gdLst/>
              <a:ahLst/>
              <a:cxnLst/>
              <a:rect l="l" t="t" r="r" b="b"/>
              <a:pathLst>
                <a:path w="714894" h="529043">
                  <a:moveTo>
                    <a:pt x="0" y="0"/>
                  </a:moveTo>
                  <a:lnTo>
                    <a:pt x="714894" y="0"/>
                  </a:lnTo>
                  <a:lnTo>
                    <a:pt x="714894" y="529043"/>
                  </a:lnTo>
                  <a:lnTo>
                    <a:pt x="0" y="529043"/>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714894" cy="567143"/>
            </a:xfrm>
            <a:prstGeom prst="rect">
              <a:avLst/>
            </a:prstGeom>
          </p:spPr>
          <p:txBody>
            <a:bodyPr lIns="50800" tIns="50800" rIns="50800" bIns="50800" rtlCol="0" anchor="ctr"/>
            <a:lstStyle/>
            <a:p>
              <a:pPr algn="ctr">
                <a:lnSpc>
                  <a:spcPts val="1960"/>
                </a:lnSpc>
              </a:pPr>
              <a:endParaRPr/>
            </a:p>
          </p:txBody>
        </p:sp>
      </p:grpSp>
      <p:sp>
        <p:nvSpPr>
          <p:cNvPr id="8" name="Freeform 8">
            <a:hlinkClick r:id="rId2" action="ppaction://hlinkfile"/>
          </p:cNvPr>
          <p:cNvSpPr/>
          <p:nvPr/>
        </p:nvSpPr>
        <p:spPr>
          <a:xfrm>
            <a:off x="6483785" y="0"/>
            <a:ext cx="10283899" cy="10287000"/>
          </a:xfrm>
          <a:custGeom>
            <a:avLst/>
            <a:gdLst/>
            <a:ahLst/>
            <a:cxnLst/>
            <a:rect l="l" t="t" r="r" b="b"/>
            <a:pathLst>
              <a:path w="10283899" h="10287000">
                <a:moveTo>
                  <a:pt x="0" y="0"/>
                </a:moveTo>
                <a:lnTo>
                  <a:pt x="10283899" y="0"/>
                </a:lnTo>
                <a:lnTo>
                  <a:pt x="10283899" y="10287000"/>
                </a:lnTo>
                <a:lnTo>
                  <a:pt x="0" y="10287000"/>
                </a:lnTo>
                <a:lnTo>
                  <a:pt x="0" y="0"/>
                </a:lnTo>
                <a:close/>
              </a:path>
            </a:pathLst>
          </a:custGeom>
          <a:blipFill>
            <a:blip r:embed="rId3"/>
            <a:stretch>
              <a:fillRect t="-229" r="-825" b="-229"/>
            </a:stretch>
          </a:blipFill>
        </p:spPr>
        <p:txBody>
          <a:bodyPr/>
          <a:lstStyle/>
          <a:p>
            <a:endParaRPr lang="en-KE"/>
          </a:p>
        </p:txBody>
      </p:sp>
      <p:sp>
        <p:nvSpPr>
          <p:cNvPr id="9" name="TextBox 9"/>
          <p:cNvSpPr txBox="1"/>
          <p:nvPr/>
        </p:nvSpPr>
        <p:spPr>
          <a:xfrm>
            <a:off x="506878" y="3673719"/>
            <a:ext cx="5568699" cy="2860931"/>
          </a:xfrm>
          <a:prstGeom prst="rect">
            <a:avLst/>
          </a:prstGeom>
        </p:spPr>
        <p:txBody>
          <a:bodyPr lIns="0" tIns="0" rIns="0" bIns="0" rtlCol="0" anchor="t">
            <a:spAutoFit/>
          </a:bodyPr>
          <a:lstStyle/>
          <a:p>
            <a:pPr algn="ctr">
              <a:lnSpc>
                <a:spcPts val="11360"/>
              </a:lnSpc>
              <a:spcBef>
                <a:spcPct val="0"/>
              </a:spcBef>
            </a:pPr>
            <a:r>
              <a:rPr lang="en-US" sz="8114" b="1" spc="-324">
                <a:solidFill>
                  <a:srgbClr val="C1FF72"/>
                </a:solidFill>
                <a:latin typeface="Times New Roman Bold"/>
                <a:ea typeface="Times New Roman Bold"/>
                <a:cs typeface="Times New Roman Bold"/>
                <a:sym typeface="Times New Roman Bold"/>
              </a:rPr>
              <a:t>Use Case Diagram</a:t>
            </a:r>
          </a:p>
        </p:txBody>
      </p:sp>
      <p:sp>
        <p:nvSpPr>
          <p:cNvPr id="10" name="TextBox 10"/>
          <p:cNvSpPr txBox="1"/>
          <p:nvPr/>
        </p:nvSpPr>
        <p:spPr>
          <a:xfrm>
            <a:off x="454698" y="6944976"/>
            <a:ext cx="5620880" cy="942081"/>
          </a:xfrm>
          <a:prstGeom prst="rect">
            <a:avLst/>
          </a:prstGeom>
        </p:spPr>
        <p:txBody>
          <a:bodyPr lIns="0" tIns="0" rIns="0" bIns="0" rtlCol="0" anchor="t">
            <a:spAutoFit/>
          </a:bodyPr>
          <a:lstStyle/>
          <a:p>
            <a:pPr algn="ctr">
              <a:lnSpc>
                <a:spcPts val="3724"/>
              </a:lnSpc>
              <a:spcBef>
                <a:spcPct val="0"/>
              </a:spcBef>
            </a:pPr>
            <a:r>
              <a:rPr lang="en-US" sz="2660" spc="-106">
                <a:solidFill>
                  <a:srgbClr val="EFF3F6"/>
                </a:solidFill>
                <a:latin typeface="Times New Roman"/>
                <a:ea typeface="Times New Roman"/>
                <a:cs typeface="Times New Roman"/>
                <a:sym typeface="Times New Roman"/>
              </a:rPr>
              <a:t>Shows the interaction between users and the system and the main system functions.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3918310" y="4811662"/>
            <a:ext cx="1028700" cy="10544787"/>
            <a:chOff x="0" y="0"/>
            <a:chExt cx="270933" cy="2777228"/>
          </a:xfrm>
        </p:grpSpPr>
        <p:sp>
          <p:nvSpPr>
            <p:cNvPr id="3" name="Freeform 3"/>
            <p:cNvSpPr/>
            <p:nvPr/>
          </p:nvSpPr>
          <p:spPr>
            <a:xfrm>
              <a:off x="0" y="0"/>
              <a:ext cx="270933" cy="2777228"/>
            </a:xfrm>
            <a:custGeom>
              <a:avLst/>
              <a:gdLst/>
              <a:ahLst/>
              <a:cxnLst/>
              <a:rect l="l" t="t" r="r" b="b"/>
              <a:pathLst>
                <a:path w="270933" h="2777228">
                  <a:moveTo>
                    <a:pt x="0" y="0"/>
                  </a:moveTo>
                  <a:lnTo>
                    <a:pt x="270933" y="0"/>
                  </a:lnTo>
                  <a:lnTo>
                    <a:pt x="270933" y="2777228"/>
                  </a:lnTo>
                  <a:lnTo>
                    <a:pt x="0" y="2777228"/>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270933" cy="2815328"/>
            </a:xfrm>
            <a:prstGeom prst="rect">
              <a:avLst/>
            </a:prstGeom>
          </p:spPr>
          <p:txBody>
            <a:bodyPr lIns="50800" tIns="50800" rIns="50800" bIns="50800" rtlCol="0" anchor="ctr"/>
            <a:lstStyle/>
            <a:p>
              <a:pPr algn="ctr">
                <a:lnSpc>
                  <a:spcPts val="1960"/>
                </a:lnSpc>
              </a:pPr>
              <a:endParaRPr/>
            </a:p>
          </p:txBody>
        </p:sp>
      </p:grpSp>
      <p:sp>
        <p:nvSpPr>
          <p:cNvPr id="5" name="Freeform 5">
            <a:hlinkClick r:id="rId2" action="ppaction://hlinkfile"/>
          </p:cNvPr>
          <p:cNvSpPr/>
          <p:nvPr/>
        </p:nvSpPr>
        <p:spPr>
          <a:xfrm>
            <a:off x="9807055" y="0"/>
            <a:ext cx="7572945" cy="10287000"/>
          </a:xfrm>
          <a:custGeom>
            <a:avLst/>
            <a:gdLst/>
            <a:ahLst/>
            <a:cxnLst/>
            <a:rect l="l" t="t" r="r" b="b"/>
            <a:pathLst>
              <a:path w="6436555" h="9360879">
                <a:moveTo>
                  <a:pt x="0" y="0"/>
                </a:moveTo>
                <a:lnTo>
                  <a:pt x="6436555" y="0"/>
                </a:lnTo>
                <a:lnTo>
                  <a:pt x="6436555" y="9360878"/>
                </a:lnTo>
                <a:lnTo>
                  <a:pt x="0" y="9360878"/>
                </a:lnTo>
                <a:lnTo>
                  <a:pt x="0" y="0"/>
                </a:lnTo>
                <a:close/>
              </a:path>
            </a:pathLst>
          </a:custGeom>
          <a:blipFill>
            <a:blip r:embed="rId3"/>
            <a:stretch>
              <a:fillRect l="-380" r="-380" b="-813"/>
            </a:stretch>
          </a:blipFill>
        </p:spPr>
        <p:txBody>
          <a:bodyPr/>
          <a:lstStyle/>
          <a:p>
            <a:endParaRPr lang="en-KE"/>
          </a:p>
        </p:txBody>
      </p:sp>
      <p:sp>
        <p:nvSpPr>
          <p:cNvPr id="6" name="TextBox 6"/>
          <p:cNvSpPr txBox="1"/>
          <p:nvPr/>
        </p:nvSpPr>
        <p:spPr>
          <a:xfrm>
            <a:off x="79219" y="2219435"/>
            <a:ext cx="7318685" cy="2924065"/>
          </a:xfrm>
          <a:prstGeom prst="rect">
            <a:avLst/>
          </a:prstGeom>
        </p:spPr>
        <p:txBody>
          <a:bodyPr lIns="0" tIns="0" rIns="0" bIns="0" rtlCol="0" anchor="t">
            <a:spAutoFit/>
          </a:bodyPr>
          <a:lstStyle/>
          <a:p>
            <a:pPr algn="ctr">
              <a:lnSpc>
                <a:spcPts val="11556"/>
              </a:lnSpc>
              <a:spcBef>
                <a:spcPct val="0"/>
              </a:spcBef>
            </a:pPr>
            <a:r>
              <a:rPr lang="en-US" sz="8254" b="1" spc="-330">
                <a:solidFill>
                  <a:srgbClr val="C1FF72"/>
                </a:solidFill>
                <a:latin typeface="Times New Roman Bold"/>
                <a:ea typeface="Times New Roman Bold"/>
                <a:cs typeface="Times New Roman Bold"/>
                <a:sym typeface="Times New Roman Bold"/>
              </a:rPr>
              <a:t>Sequence Diagram</a:t>
            </a:r>
          </a:p>
        </p:txBody>
      </p:sp>
      <p:grpSp>
        <p:nvGrpSpPr>
          <p:cNvPr id="7" name="Group 7"/>
          <p:cNvGrpSpPr/>
          <p:nvPr/>
        </p:nvGrpSpPr>
        <p:grpSpPr>
          <a:xfrm rot="-10800000">
            <a:off x="17532259" y="0"/>
            <a:ext cx="1028700" cy="10598406"/>
            <a:chOff x="0" y="0"/>
            <a:chExt cx="270933" cy="2791350"/>
          </a:xfrm>
        </p:grpSpPr>
        <p:sp>
          <p:nvSpPr>
            <p:cNvPr id="8" name="Freeform 8"/>
            <p:cNvSpPr/>
            <p:nvPr/>
          </p:nvSpPr>
          <p:spPr>
            <a:xfrm>
              <a:off x="0" y="0"/>
              <a:ext cx="270933" cy="2791350"/>
            </a:xfrm>
            <a:custGeom>
              <a:avLst/>
              <a:gdLst/>
              <a:ahLst/>
              <a:cxnLst/>
              <a:rect l="l" t="t" r="r" b="b"/>
              <a:pathLst>
                <a:path w="270933" h="2791350">
                  <a:moveTo>
                    <a:pt x="0" y="0"/>
                  </a:moveTo>
                  <a:lnTo>
                    <a:pt x="270933" y="0"/>
                  </a:lnTo>
                  <a:lnTo>
                    <a:pt x="270933" y="2791350"/>
                  </a:lnTo>
                  <a:lnTo>
                    <a:pt x="0" y="2791350"/>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9" name="TextBox 9"/>
            <p:cNvSpPr txBox="1"/>
            <p:nvPr/>
          </p:nvSpPr>
          <p:spPr>
            <a:xfrm>
              <a:off x="0" y="-38100"/>
              <a:ext cx="270933" cy="2829450"/>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434198" y="5584066"/>
            <a:ext cx="7470944" cy="1031241"/>
          </a:xfrm>
          <a:prstGeom prst="rect">
            <a:avLst/>
          </a:prstGeom>
        </p:spPr>
        <p:txBody>
          <a:bodyPr lIns="0" tIns="0" rIns="0" bIns="0" rtlCol="0" anchor="t">
            <a:spAutoFit/>
          </a:bodyPr>
          <a:lstStyle/>
          <a:p>
            <a:pPr algn="ctr">
              <a:lnSpc>
                <a:spcPts val="4059"/>
              </a:lnSpc>
              <a:spcBef>
                <a:spcPct val="0"/>
              </a:spcBef>
            </a:pPr>
            <a:r>
              <a:rPr lang="en-US" sz="2899" spc="-115">
                <a:solidFill>
                  <a:srgbClr val="EFF3F6"/>
                </a:solidFill>
                <a:latin typeface="Times New Roman"/>
                <a:ea typeface="Times New Roman"/>
                <a:cs typeface="Times New Roman"/>
                <a:sym typeface="Times New Roman"/>
              </a:rPr>
              <a:t>Shows how processes interact in order over time between users, the system, and the database.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77424" y="2748595"/>
            <a:ext cx="15405125" cy="1148880"/>
          </a:xfrm>
          <a:prstGeom prst="rect">
            <a:avLst/>
          </a:prstGeom>
        </p:spPr>
        <p:txBody>
          <a:bodyPr lIns="0" tIns="0" rIns="0" bIns="0" rtlCol="0" anchor="t">
            <a:spAutoFit/>
          </a:bodyPr>
          <a:lstStyle/>
          <a:p>
            <a:pPr algn="l">
              <a:lnSpc>
                <a:spcPts val="7728"/>
              </a:lnSpc>
            </a:pPr>
            <a:r>
              <a:rPr lang="en-US" sz="9541" b="1" spc="-477">
                <a:solidFill>
                  <a:srgbClr val="C1FF72"/>
                </a:solidFill>
                <a:latin typeface="Times New Roman Bold"/>
                <a:ea typeface="Times New Roman Bold"/>
                <a:cs typeface="Times New Roman Bold"/>
                <a:sym typeface="Times New Roman Bold"/>
              </a:rPr>
              <a:t>Class Diagram</a:t>
            </a:r>
          </a:p>
        </p:txBody>
      </p:sp>
      <p:grpSp>
        <p:nvGrpSpPr>
          <p:cNvPr id="3" name="Group 3"/>
          <p:cNvGrpSpPr/>
          <p:nvPr/>
        </p:nvGrpSpPr>
        <p:grpSpPr>
          <a:xfrm>
            <a:off x="-164431" y="-281146"/>
            <a:ext cx="2386262" cy="2208936"/>
            <a:chOff x="0" y="0"/>
            <a:chExt cx="628481" cy="581777"/>
          </a:xfrm>
        </p:grpSpPr>
        <p:sp>
          <p:nvSpPr>
            <p:cNvPr id="4" name="Freeform 4"/>
            <p:cNvSpPr/>
            <p:nvPr/>
          </p:nvSpPr>
          <p:spPr>
            <a:xfrm>
              <a:off x="0" y="0"/>
              <a:ext cx="628481" cy="581777"/>
            </a:xfrm>
            <a:custGeom>
              <a:avLst/>
              <a:gdLst/>
              <a:ahLst/>
              <a:cxnLst/>
              <a:rect l="l" t="t" r="r" b="b"/>
              <a:pathLst>
                <a:path w="628481" h="581777">
                  <a:moveTo>
                    <a:pt x="0" y="0"/>
                  </a:moveTo>
                  <a:lnTo>
                    <a:pt x="628481" y="0"/>
                  </a:lnTo>
                  <a:lnTo>
                    <a:pt x="628481" y="581777"/>
                  </a:lnTo>
                  <a:lnTo>
                    <a:pt x="0" y="581777"/>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5" name="TextBox 5"/>
            <p:cNvSpPr txBox="1"/>
            <p:nvPr/>
          </p:nvSpPr>
          <p:spPr>
            <a:xfrm>
              <a:off x="0" y="-38100"/>
              <a:ext cx="628481" cy="619877"/>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rot="-10800000">
            <a:off x="17259300" y="0"/>
            <a:ext cx="1578732" cy="10681857"/>
            <a:chOff x="0" y="0"/>
            <a:chExt cx="415798" cy="2813329"/>
          </a:xfrm>
        </p:grpSpPr>
        <p:sp>
          <p:nvSpPr>
            <p:cNvPr id="7" name="Freeform 7"/>
            <p:cNvSpPr/>
            <p:nvPr/>
          </p:nvSpPr>
          <p:spPr>
            <a:xfrm>
              <a:off x="0" y="0"/>
              <a:ext cx="415798" cy="2813328"/>
            </a:xfrm>
            <a:custGeom>
              <a:avLst/>
              <a:gdLst/>
              <a:ahLst/>
              <a:cxnLst/>
              <a:rect l="l" t="t" r="r" b="b"/>
              <a:pathLst>
                <a:path w="415798" h="2813328">
                  <a:moveTo>
                    <a:pt x="0" y="0"/>
                  </a:moveTo>
                  <a:lnTo>
                    <a:pt x="415798" y="0"/>
                  </a:lnTo>
                  <a:lnTo>
                    <a:pt x="415798" y="2813328"/>
                  </a:lnTo>
                  <a:lnTo>
                    <a:pt x="0" y="2813328"/>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8" name="TextBox 8"/>
            <p:cNvSpPr txBox="1"/>
            <p:nvPr/>
          </p:nvSpPr>
          <p:spPr>
            <a:xfrm>
              <a:off x="0" y="-38100"/>
              <a:ext cx="415798" cy="2851429"/>
            </a:xfrm>
            <a:prstGeom prst="rect">
              <a:avLst/>
            </a:prstGeom>
          </p:spPr>
          <p:txBody>
            <a:bodyPr lIns="50800" tIns="50800" rIns="50800" bIns="50800" rtlCol="0" anchor="ctr"/>
            <a:lstStyle/>
            <a:p>
              <a:pPr algn="ctr">
                <a:lnSpc>
                  <a:spcPts val="1960"/>
                </a:lnSpc>
              </a:pPr>
              <a:endParaRPr/>
            </a:p>
          </p:txBody>
        </p:sp>
      </p:grpSp>
      <p:sp>
        <p:nvSpPr>
          <p:cNvPr id="9" name="Freeform 9">
            <a:hlinkClick r:id="rId2" action="ppaction://hlinkfile"/>
          </p:cNvPr>
          <p:cNvSpPr/>
          <p:nvPr/>
        </p:nvSpPr>
        <p:spPr>
          <a:xfrm>
            <a:off x="8828389" y="0"/>
            <a:ext cx="7601702" cy="10286999"/>
          </a:xfrm>
          <a:custGeom>
            <a:avLst/>
            <a:gdLst/>
            <a:ahLst/>
            <a:cxnLst/>
            <a:rect l="l" t="t" r="r" b="b"/>
            <a:pathLst>
              <a:path w="7601702" h="10006193">
                <a:moveTo>
                  <a:pt x="0" y="0"/>
                </a:moveTo>
                <a:lnTo>
                  <a:pt x="7601703" y="0"/>
                </a:lnTo>
                <a:lnTo>
                  <a:pt x="7601703" y="10006194"/>
                </a:lnTo>
                <a:lnTo>
                  <a:pt x="0" y="10006194"/>
                </a:lnTo>
                <a:lnTo>
                  <a:pt x="0" y="0"/>
                </a:lnTo>
                <a:close/>
              </a:path>
            </a:pathLst>
          </a:custGeom>
          <a:blipFill>
            <a:blip r:embed="rId3"/>
            <a:stretch>
              <a:fillRect l="-315" r="-315" b="-2215"/>
            </a:stretch>
          </a:blipFill>
        </p:spPr>
        <p:txBody>
          <a:bodyPr/>
          <a:lstStyle/>
          <a:p>
            <a:endParaRPr lang="en-KE"/>
          </a:p>
        </p:txBody>
      </p:sp>
      <p:sp>
        <p:nvSpPr>
          <p:cNvPr id="10" name="TextBox 10"/>
          <p:cNvSpPr txBox="1"/>
          <p:nvPr/>
        </p:nvSpPr>
        <p:spPr>
          <a:xfrm>
            <a:off x="0" y="3813078"/>
            <a:ext cx="8251639" cy="1314490"/>
          </a:xfrm>
          <a:prstGeom prst="rect">
            <a:avLst/>
          </a:prstGeom>
        </p:spPr>
        <p:txBody>
          <a:bodyPr lIns="0" tIns="0" rIns="0" bIns="0" rtlCol="0" anchor="t">
            <a:spAutoFit/>
          </a:bodyPr>
          <a:lstStyle/>
          <a:p>
            <a:pPr algn="ctr">
              <a:lnSpc>
                <a:spcPts val="5247"/>
              </a:lnSpc>
              <a:spcBef>
                <a:spcPct val="0"/>
              </a:spcBef>
            </a:pPr>
            <a:r>
              <a:rPr lang="en-US" sz="3748" spc="-149">
                <a:solidFill>
                  <a:srgbClr val="EFF3F6"/>
                </a:solidFill>
                <a:latin typeface="Times New Roman"/>
                <a:ea typeface="Times New Roman"/>
                <a:cs typeface="Times New Roman"/>
                <a:sym typeface="Times New Roman"/>
              </a:rPr>
              <a:t>Shows the system structure using classes, attributes, and relationships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97416" y="5657949"/>
            <a:ext cx="1226116" cy="7200900"/>
            <a:chOff x="0" y="0"/>
            <a:chExt cx="322928" cy="1896533"/>
          </a:xfrm>
        </p:grpSpPr>
        <p:sp>
          <p:nvSpPr>
            <p:cNvPr id="3" name="Freeform 3"/>
            <p:cNvSpPr/>
            <p:nvPr/>
          </p:nvSpPr>
          <p:spPr>
            <a:xfrm>
              <a:off x="0" y="0"/>
              <a:ext cx="322928" cy="1896533"/>
            </a:xfrm>
            <a:custGeom>
              <a:avLst/>
              <a:gdLst/>
              <a:ahLst/>
              <a:cxnLst/>
              <a:rect l="l" t="t" r="r" b="b"/>
              <a:pathLst>
                <a:path w="322928" h="1896533">
                  <a:moveTo>
                    <a:pt x="0" y="0"/>
                  </a:moveTo>
                  <a:lnTo>
                    <a:pt x="322928" y="0"/>
                  </a:lnTo>
                  <a:lnTo>
                    <a:pt x="322928" y="1896533"/>
                  </a:lnTo>
                  <a:lnTo>
                    <a:pt x="0" y="1896533"/>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322928" cy="1934633"/>
            </a:xfrm>
            <a:prstGeom prst="rect">
              <a:avLst/>
            </a:prstGeom>
          </p:spPr>
          <p:txBody>
            <a:bodyPr lIns="50800" tIns="50800" rIns="50800" bIns="50800" rtlCol="0" anchor="ctr"/>
            <a:lstStyle/>
            <a:p>
              <a:pPr algn="ctr">
                <a:lnSpc>
                  <a:spcPts val="1960"/>
                </a:lnSpc>
              </a:pPr>
              <a:endParaRPr/>
            </a:p>
          </p:txBody>
        </p:sp>
      </p:grpSp>
      <p:sp>
        <p:nvSpPr>
          <p:cNvPr id="5" name="Freeform 5">
            <a:hlinkClick r:id="rId2" action="ppaction://hlinkfile"/>
          </p:cNvPr>
          <p:cNvSpPr/>
          <p:nvPr/>
        </p:nvSpPr>
        <p:spPr>
          <a:xfrm>
            <a:off x="8101512" y="0"/>
            <a:ext cx="8586288" cy="10287000"/>
          </a:xfrm>
          <a:custGeom>
            <a:avLst/>
            <a:gdLst/>
            <a:ahLst/>
            <a:cxnLst/>
            <a:rect l="l" t="t" r="r" b="b"/>
            <a:pathLst>
              <a:path w="8228158" h="9819960">
                <a:moveTo>
                  <a:pt x="0" y="0"/>
                </a:moveTo>
                <a:lnTo>
                  <a:pt x="8228158" y="0"/>
                </a:lnTo>
                <a:lnTo>
                  <a:pt x="8228158" y="9819960"/>
                </a:lnTo>
                <a:lnTo>
                  <a:pt x="0" y="9819960"/>
                </a:lnTo>
                <a:lnTo>
                  <a:pt x="0" y="0"/>
                </a:lnTo>
                <a:close/>
              </a:path>
            </a:pathLst>
          </a:custGeom>
          <a:blipFill>
            <a:blip r:embed="rId3"/>
            <a:stretch>
              <a:fillRect t="-3170" r="-586" b="-400"/>
            </a:stretch>
          </a:blipFill>
        </p:spPr>
        <p:txBody>
          <a:bodyPr/>
          <a:lstStyle/>
          <a:p>
            <a:endParaRPr lang="en-KE"/>
          </a:p>
        </p:txBody>
      </p:sp>
      <p:sp>
        <p:nvSpPr>
          <p:cNvPr id="6" name="TextBox 6"/>
          <p:cNvSpPr txBox="1"/>
          <p:nvPr/>
        </p:nvSpPr>
        <p:spPr>
          <a:xfrm>
            <a:off x="189165" y="1116253"/>
            <a:ext cx="7096053" cy="2858679"/>
          </a:xfrm>
          <a:prstGeom prst="rect">
            <a:avLst/>
          </a:prstGeom>
        </p:spPr>
        <p:txBody>
          <a:bodyPr lIns="0" tIns="0" rIns="0" bIns="0" rtlCol="0" anchor="t">
            <a:spAutoFit/>
          </a:bodyPr>
          <a:lstStyle/>
          <a:p>
            <a:pPr algn="l">
              <a:lnSpc>
                <a:spcPts val="7184"/>
              </a:lnSpc>
            </a:pPr>
            <a:r>
              <a:rPr lang="en-US" sz="8869" b="1" spc="-443">
                <a:solidFill>
                  <a:srgbClr val="C1FF72"/>
                </a:solidFill>
                <a:latin typeface="Times New Roman Bold"/>
                <a:ea typeface="Times New Roman Bold"/>
                <a:cs typeface="Times New Roman Bold"/>
                <a:sym typeface="Times New Roman Bold"/>
              </a:rPr>
              <a:t>Entity Relationship Diagram(ERD)</a:t>
            </a:r>
          </a:p>
        </p:txBody>
      </p:sp>
      <p:sp>
        <p:nvSpPr>
          <p:cNvPr id="7" name="TextBox 7"/>
          <p:cNvSpPr txBox="1"/>
          <p:nvPr/>
        </p:nvSpPr>
        <p:spPr>
          <a:xfrm>
            <a:off x="0" y="4377788"/>
            <a:ext cx="7285218" cy="1280161"/>
          </a:xfrm>
          <a:prstGeom prst="rect">
            <a:avLst/>
          </a:prstGeom>
        </p:spPr>
        <p:txBody>
          <a:bodyPr lIns="0" tIns="0" rIns="0" bIns="0" rtlCol="0" anchor="t">
            <a:spAutoFit/>
          </a:bodyPr>
          <a:lstStyle/>
          <a:p>
            <a:pPr algn="ctr">
              <a:lnSpc>
                <a:spcPts val="5039"/>
              </a:lnSpc>
              <a:spcBef>
                <a:spcPct val="0"/>
              </a:spcBef>
            </a:pPr>
            <a:r>
              <a:rPr lang="en-US" sz="3599" spc="-143">
                <a:solidFill>
                  <a:srgbClr val="EFF3F6"/>
                </a:solidFill>
                <a:latin typeface="Times New Roman"/>
                <a:ea typeface="Times New Roman"/>
                <a:cs typeface="Times New Roman"/>
                <a:sym typeface="Times New Roman"/>
              </a:rPr>
              <a:t>Shows how data entities are related in the database.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506045" y="7402750"/>
            <a:ext cx="2756410" cy="5768500"/>
            <a:chOff x="0" y="0"/>
            <a:chExt cx="725968" cy="1519276"/>
          </a:xfrm>
        </p:grpSpPr>
        <p:sp>
          <p:nvSpPr>
            <p:cNvPr id="3" name="Freeform 3"/>
            <p:cNvSpPr/>
            <p:nvPr/>
          </p:nvSpPr>
          <p:spPr>
            <a:xfrm>
              <a:off x="0" y="0"/>
              <a:ext cx="725968" cy="1519276"/>
            </a:xfrm>
            <a:custGeom>
              <a:avLst/>
              <a:gdLst/>
              <a:ahLst/>
              <a:cxnLst/>
              <a:rect l="l" t="t" r="r" b="b"/>
              <a:pathLst>
                <a:path w="725968" h="1519276">
                  <a:moveTo>
                    <a:pt x="0" y="0"/>
                  </a:moveTo>
                  <a:lnTo>
                    <a:pt x="725968" y="0"/>
                  </a:lnTo>
                  <a:lnTo>
                    <a:pt x="725968" y="1519276"/>
                  </a:lnTo>
                  <a:lnTo>
                    <a:pt x="0" y="1519276"/>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725968" cy="1557376"/>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605420" y="-2779201"/>
            <a:ext cx="2161909" cy="6164252"/>
            <a:chOff x="0" y="0"/>
            <a:chExt cx="569392" cy="1623507"/>
          </a:xfrm>
        </p:grpSpPr>
        <p:sp>
          <p:nvSpPr>
            <p:cNvPr id="6" name="Freeform 6"/>
            <p:cNvSpPr/>
            <p:nvPr/>
          </p:nvSpPr>
          <p:spPr>
            <a:xfrm>
              <a:off x="0" y="0"/>
              <a:ext cx="569392" cy="1623507"/>
            </a:xfrm>
            <a:custGeom>
              <a:avLst/>
              <a:gdLst/>
              <a:ahLst/>
              <a:cxnLst/>
              <a:rect l="l" t="t" r="r" b="b"/>
              <a:pathLst>
                <a:path w="569392" h="1623507">
                  <a:moveTo>
                    <a:pt x="0" y="0"/>
                  </a:moveTo>
                  <a:lnTo>
                    <a:pt x="569392" y="0"/>
                  </a:lnTo>
                  <a:lnTo>
                    <a:pt x="569392" y="1623507"/>
                  </a:lnTo>
                  <a:lnTo>
                    <a:pt x="0" y="1623507"/>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569392" cy="1661607"/>
            </a:xfrm>
            <a:prstGeom prst="rect">
              <a:avLst/>
            </a:prstGeom>
          </p:spPr>
          <p:txBody>
            <a:bodyPr lIns="50800" tIns="50800" rIns="50800" bIns="50800" rtlCol="0" anchor="ctr"/>
            <a:lstStyle/>
            <a:p>
              <a:pPr algn="ctr">
                <a:lnSpc>
                  <a:spcPts val="1960"/>
                </a:lnSpc>
              </a:pPr>
              <a:endParaRPr/>
            </a:p>
          </p:txBody>
        </p:sp>
      </p:grpSp>
      <p:sp>
        <p:nvSpPr>
          <p:cNvPr id="8" name="Freeform 8">
            <a:hlinkClick r:id="rId2" action="ppaction://hlinkfile"/>
          </p:cNvPr>
          <p:cNvSpPr/>
          <p:nvPr/>
        </p:nvSpPr>
        <p:spPr>
          <a:xfrm>
            <a:off x="5768500" y="0"/>
            <a:ext cx="12519500" cy="10287000"/>
          </a:xfrm>
          <a:custGeom>
            <a:avLst/>
            <a:gdLst/>
            <a:ahLst/>
            <a:cxnLst/>
            <a:rect l="l" t="t" r="r" b="b"/>
            <a:pathLst>
              <a:path w="12000372" h="9681150">
                <a:moveTo>
                  <a:pt x="0" y="0"/>
                </a:moveTo>
                <a:lnTo>
                  <a:pt x="12000373" y="0"/>
                </a:lnTo>
                <a:lnTo>
                  <a:pt x="12000373" y="9681150"/>
                </a:lnTo>
                <a:lnTo>
                  <a:pt x="0" y="9681150"/>
                </a:lnTo>
                <a:lnTo>
                  <a:pt x="0" y="0"/>
                </a:lnTo>
                <a:close/>
              </a:path>
            </a:pathLst>
          </a:custGeom>
          <a:blipFill>
            <a:blip r:embed="rId3"/>
            <a:stretch>
              <a:fillRect t="-3972" b="-3972"/>
            </a:stretch>
          </a:blipFill>
        </p:spPr>
        <p:txBody>
          <a:bodyPr/>
          <a:lstStyle/>
          <a:p>
            <a:endParaRPr lang="en-KE"/>
          </a:p>
        </p:txBody>
      </p:sp>
      <p:sp>
        <p:nvSpPr>
          <p:cNvPr id="9" name="TextBox 9"/>
          <p:cNvSpPr txBox="1"/>
          <p:nvPr/>
        </p:nvSpPr>
        <p:spPr>
          <a:xfrm>
            <a:off x="0" y="3130983"/>
            <a:ext cx="5147628" cy="3049900"/>
          </a:xfrm>
          <a:prstGeom prst="rect">
            <a:avLst/>
          </a:prstGeom>
        </p:spPr>
        <p:txBody>
          <a:bodyPr lIns="0" tIns="0" rIns="0" bIns="0" rtlCol="0" anchor="t">
            <a:spAutoFit/>
          </a:bodyPr>
          <a:lstStyle/>
          <a:p>
            <a:pPr algn="ctr">
              <a:lnSpc>
                <a:spcPts val="12146"/>
              </a:lnSpc>
              <a:spcBef>
                <a:spcPct val="0"/>
              </a:spcBef>
            </a:pPr>
            <a:r>
              <a:rPr lang="en-US" sz="8675" b="1" spc="-347">
                <a:solidFill>
                  <a:srgbClr val="C1FF72"/>
                </a:solidFill>
                <a:latin typeface="Times New Roman Bold"/>
                <a:ea typeface="Times New Roman Bold"/>
                <a:cs typeface="Times New Roman Bold"/>
                <a:sym typeface="Times New Roman Bold"/>
              </a:rPr>
              <a:t>Database Schema</a:t>
            </a:r>
          </a:p>
        </p:txBody>
      </p:sp>
      <p:sp>
        <p:nvSpPr>
          <p:cNvPr id="10" name="TextBox 10"/>
          <p:cNvSpPr txBox="1"/>
          <p:nvPr/>
        </p:nvSpPr>
        <p:spPr>
          <a:xfrm>
            <a:off x="476409" y="6520259"/>
            <a:ext cx="4671219" cy="1280161"/>
          </a:xfrm>
          <a:prstGeom prst="rect">
            <a:avLst/>
          </a:prstGeom>
        </p:spPr>
        <p:txBody>
          <a:bodyPr lIns="0" tIns="0" rIns="0" bIns="0" rtlCol="0" anchor="t">
            <a:spAutoFit/>
          </a:bodyPr>
          <a:lstStyle/>
          <a:p>
            <a:pPr algn="ctr">
              <a:lnSpc>
                <a:spcPts val="5039"/>
              </a:lnSpc>
              <a:spcBef>
                <a:spcPct val="0"/>
              </a:spcBef>
            </a:pPr>
            <a:r>
              <a:rPr lang="en-US" sz="3599" spc="-143">
                <a:solidFill>
                  <a:srgbClr val="EFF3F6"/>
                </a:solidFill>
                <a:latin typeface="Times New Roman"/>
                <a:ea typeface="Times New Roman"/>
                <a:cs typeface="Times New Roman"/>
                <a:sym typeface="Times New Roman"/>
              </a:rPr>
              <a:t>Shows the database tables and their structure.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236155" y="8350760"/>
            <a:ext cx="2046290" cy="2806600"/>
            <a:chOff x="0" y="0"/>
            <a:chExt cx="538941" cy="739187"/>
          </a:xfrm>
        </p:grpSpPr>
        <p:sp>
          <p:nvSpPr>
            <p:cNvPr id="3" name="Freeform 3"/>
            <p:cNvSpPr/>
            <p:nvPr/>
          </p:nvSpPr>
          <p:spPr>
            <a:xfrm>
              <a:off x="0" y="0"/>
              <a:ext cx="538941" cy="739187"/>
            </a:xfrm>
            <a:custGeom>
              <a:avLst/>
              <a:gdLst/>
              <a:ahLst/>
              <a:cxnLst/>
              <a:rect l="l" t="t" r="r" b="b"/>
              <a:pathLst>
                <a:path w="538941" h="739187">
                  <a:moveTo>
                    <a:pt x="0" y="0"/>
                  </a:moveTo>
                  <a:lnTo>
                    <a:pt x="538941" y="0"/>
                  </a:lnTo>
                  <a:lnTo>
                    <a:pt x="538941" y="739187"/>
                  </a:lnTo>
                  <a:lnTo>
                    <a:pt x="0" y="739187"/>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538941" cy="777287"/>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5555" y="-380155"/>
            <a:ext cx="2046290" cy="2806600"/>
            <a:chOff x="0" y="0"/>
            <a:chExt cx="538941" cy="739187"/>
          </a:xfrm>
        </p:grpSpPr>
        <p:sp>
          <p:nvSpPr>
            <p:cNvPr id="6" name="Freeform 6"/>
            <p:cNvSpPr/>
            <p:nvPr/>
          </p:nvSpPr>
          <p:spPr>
            <a:xfrm>
              <a:off x="0" y="0"/>
              <a:ext cx="538941" cy="739187"/>
            </a:xfrm>
            <a:custGeom>
              <a:avLst/>
              <a:gdLst/>
              <a:ahLst/>
              <a:cxnLst/>
              <a:rect l="l" t="t" r="r" b="b"/>
              <a:pathLst>
                <a:path w="538941" h="739187">
                  <a:moveTo>
                    <a:pt x="0" y="0"/>
                  </a:moveTo>
                  <a:lnTo>
                    <a:pt x="538941" y="0"/>
                  </a:lnTo>
                  <a:lnTo>
                    <a:pt x="538941" y="739187"/>
                  </a:lnTo>
                  <a:lnTo>
                    <a:pt x="0" y="739187"/>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538941" cy="777287"/>
            </a:xfrm>
            <a:prstGeom prst="rect">
              <a:avLst/>
            </a:prstGeom>
          </p:spPr>
          <p:txBody>
            <a:bodyPr lIns="50800" tIns="50800" rIns="50800" bIns="50800" rtlCol="0" anchor="ctr"/>
            <a:lstStyle/>
            <a:p>
              <a:pPr algn="ctr">
                <a:lnSpc>
                  <a:spcPts val="1960"/>
                </a:lnSpc>
              </a:pPr>
              <a:endParaRPr/>
            </a:p>
          </p:txBody>
        </p:sp>
      </p:grpSp>
      <p:grpSp>
        <p:nvGrpSpPr>
          <p:cNvPr id="8" name="Group 8"/>
          <p:cNvGrpSpPr/>
          <p:nvPr/>
        </p:nvGrpSpPr>
        <p:grpSpPr>
          <a:xfrm rot="-10800000">
            <a:off x="17259300" y="7480400"/>
            <a:ext cx="2046290" cy="2806600"/>
            <a:chOff x="0" y="0"/>
            <a:chExt cx="538941" cy="739187"/>
          </a:xfrm>
        </p:grpSpPr>
        <p:sp>
          <p:nvSpPr>
            <p:cNvPr id="9" name="Freeform 9"/>
            <p:cNvSpPr/>
            <p:nvPr/>
          </p:nvSpPr>
          <p:spPr>
            <a:xfrm>
              <a:off x="0" y="0"/>
              <a:ext cx="538941" cy="739187"/>
            </a:xfrm>
            <a:custGeom>
              <a:avLst/>
              <a:gdLst/>
              <a:ahLst/>
              <a:cxnLst/>
              <a:rect l="l" t="t" r="r" b="b"/>
              <a:pathLst>
                <a:path w="538941" h="739187">
                  <a:moveTo>
                    <a:pt x="0" y="0"/>
                  </a:moveTo>
                  <a:lnTo>
                    <a:pt x="538941" y="0"/>
                  </a:lnTo>
                  <a:lnTo>
                    <a:pt x="538941" y="739187"/>
                  </a:lnTo>
                  <a:lnTo>
                    <a:pt x="0" y="739187"/>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10" name="TextBox 10"/>
            <p:cNvSpPr txBox="1"/>
            <p:nvPr/>
          </p:nvSpPr>
          <p:spPr>
            <a:xfrm>
              <a:off x="0" y="-38100"/>
              <a:ext cx="538941" cy="777287"/>
            </a:xfrm>
            <a:prstGeom prst="rect">
              <a:avLst/>
            </a:prstGeom>
          </p:spPr>
          <p:txBody>
            <a:bodyPr lIns="50800" tIns="50800" rIns="50800" bIns="50800" rtlCol="0" anchor="ctr"/>
            <a:lstStyle/>
            <a:p>
              <a:pPr algn="ctr">
                <a:lnSpc>
                  <a:spcPts val="1960"/>
                </a:lnSpc>
              </a:pPr>
              <a:endParaRPr/>
            </a:p>
          </p:txBody>
        </p:sp>
      </p:grpSp>
      <p:grpSp>
        <p:nvGrpSpPr>
          <p:cNvPr id="11" name="Group 11"/>
          <p:cNvGrpSpPr/>
          <p:nvPr/>
        </p:nvGrpSpPr>
        <p:grpSpPr>
          <a:xfrm>
            <a:off x="-820438" y="0"/>
            <a:ext cx="2046290" cy="2806600"/>
            <a:chOff x="0" y="0"/>
            <a:chExt cx="538941" cy="739187"/>
          </a:xfrm>
        </p:grpSpPr>
        <p:sp>
          <p:nvSpPr>
            <p:cNvPr id="12" name="Freeform 12"/>
            <p:cNvSpPr/>
            <p:nvPr/>
          </p:nvSpPr>
          <p:spPr>
            <a:xfrm>
              <a:off x="0" y="0"/>
              <a:ext cx="538941" cy="739187"/>
            </a:xfrm>
            <a:custGeom>
              <a:avLst/>
              <a:gdLst/>
              <a:ahLst/>
              <a:cxnLst/>
              <a:rect l="l" t="t" r="r" b="b"/>
              <a:pathLst>
                <a:path w="538941" h="739187">
                  <a:moveTo>
                    <a:pt x="0" y="0"/>
                  </a:moveTo>
                  <a:lnTo>
                    <a:pt x="538941" y="0"/>
                  </a:lnTo>
                  <a:lnTo>
                    <a:pt x="538941" y="739187"/>
                  </a:lnTo>
                  <a:lnTo>
                    <a:pt x="0" y="739187"/>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13" name="TextBox 13"/>
            <p:cNvSpPr txBox="1"/>
            <p:nvPr/>
          </p:nvSpPr>
          <p:spPr>
            <a:xfrm>
              <a:off x="0" y="-38100"/>
              <a:ext cx="538941" cy="777287"/>
            </a:xfrm>
            <a:prstGeom prst="rect">
              <a:avLst/>
            </a:prstGeom>
          </p:spPr>
          <p:txBody>
            <a:bodyPr lIns="50800" tIns="50800" rIns="50800" bIns="50800" rtlCol="0" anchor="ctr"/>
            <a:lstStyle/>
            <a:p>
              <a:pPr algn="ctr">
                <a:lnSpc>
                  <a:spcPts val="1960"/>
                </a:lnSpc>
              </a:pPr>
              <a:endParaRPr/>
            </a:p>
          </p:txBody>
        </p:sp>
      </p:grpSp>
      <p:sp>
        <p:nvSpPr>
          <p:cNvPr id="14" name="TextBox 14"/>
          <p:cNvSpPr txBox="1"/>
          <p:nvPr/>
        </p:nvSpPr>
        <p:spPr>
          <a:xfrm>
            <a:off x="2432000" y="2375394"/>
            <a:ext cx="5424686" cy="1606111"/>
          </a:xfrm>
          <a:prstGeom prst="rect">
            <a:avLst/>
          </a:prstGeom>
        </p:spPr>
        <p:txBody>
          <a:bodyPr lIns="0" tIns="0" rIns="0" bIns="0" rtlCol="0" anchor="t">
            <a:spAutoFit/>
          </a:bodyPr>
          <a:lstStyle/>
          <a:p>
            <a:pPr algn="ctr">
              <a:lnSpc>
                <a:spcPts val="12799"/>
              </a:lnSpc>
              <a:spcBef>
                <a:spcPct val="0"/>
              </a:spcBef>
            </a:pPr>
            <a:r>
              <a:rPr lang="en-US" sz="9142" b="1" spc="-365">
                <a:solidFill>
                  <a:srgbClr val="C1FF72"/>
                </a:solidFill>
                <a:latin typeface="Times New Roman Bold"/>
                <a:ea typeface="Times New Roman Bold"/>
                <a:cs typeface="Times New Roman Bold"/>
                <a:sym typeface="Times New Roman Bold"/>
              </a:rPr>
              <a:t>Wireframes</a:t>
            </a:r>
          </a:p>
        </p:txBody>
      </p:sp>
      <p:sp>
        <p:nvSpPr>
          <p:cNvPr id="15" name="TextBox 15"/>
          <p:cNvSpPr txBox="1"/>
          <p:nvPr/>
        </p:nvSpPr>
        <p:spPr>
          <a:xfrm>
            <a:off x="1028700" y="4429180"/>
            <a:ext cx="15849096" cy="3943352"/>
          </a:xfrm>
          <a:prstGeom prst="rect">
            <a:avLst/>
          </a:prstGeom>
        </p:spPr>
        <p:txBody>
          <a:bodyPr lIns="0" tIns="0" rIns="0" bIns="0" rtlCol="0" anchor="t">
            <a:spAutoFit/>
          </a:bodyPr>
          <a:lstStyle/>
          <a:p>
            <a:pPr algn="ctr">
              <a:lnSpc>
                <a:spcPts val="6299"/>
              </a:lnSpc>
              <a:spcBef>
                <a:spcPct val="0"/>
              </a:spcBef>
            </a:pPr>
            <a:r>
              <a:rPr lang="en-US" sz="4499" spc="-179">
                <a:solidFill>
                  <a:srgbClr val="EFF3F6"/>
                </a:solidFill>
                <a:latin typeface="Times New Roman"/>
                <a:ea typeface="Times New Roman"/>
                <a:cs typeface="Times New Roman"/>
                <a:sym typeface="Times New Roman"/>
              </a:rPr>
              <a:t>Show the layout of key system screens including </a:t>
            </a:r>
          </a:p>
          <a:p>
            <a:pPr marL="971534" lvl="1" indent="-485767" algn="l">
              <a:lnSpc>
                <a:spcPts val="6299"/>
              </a:lnSpc>
              <a:spcBef>
                <a:spcPct val="0"/>
              </a:spcBef>
              <a:buFont typeface="Arial"/>
              <a:buChar char="•"/>
            </a:pPr>
            <a:r>
              <a:rPr lang="en-US" sz="4499" spc="-179">
                <a:solidFill>
                  <a:srgbClr val="EFF3F6"/>
                </a:solidFill>
                <a:latin typeface="Times New Roman"/>
                <a:ea typeface="Times New Roman"/>
                <a:cs typeface="Times New Roman"/>
                <a:sym typeface="Times New Roman"/>
              </a:rPr>
              <a:t>admin dashboard</a:t>
            </a:r>
          </a:p>
          <a:p>
            <a:pPr marL="971534" lvl="1" indent="-485767" algn="l">
              <a:lnSpc>
                <a:spcPts val="6299"/>
              </a:lnSpc>
              <a:spcBef>
                <a:spcPct val="0"/>
              </a:spcBef>
              <a:buFont typeface="Arial"/>
              <a:buChar char="•"/>
            </a:pPr>
            <a:r>
              <a:rPr lang="en-US" sz="4499" spc="-179">
                <a:solidFill>
                  <a:srgbClr val="EFF3F6"/>
                </a:solidFill>
                <a:latin typeface="Times New Roman"/>
                <a:ea typeface="Times New Roman"/>
                <a:cs typeface="Times New Roman"/>
                <a:sym typeface="Times New Roman"/>
              </a:rPr>
              <a:t>e-waste disposal dashboard</a:t>
            </a:r>
          </a:p>
          <a:p>
            <a:pPr marL="971534" lvl="1" indent="-485767" algn="l">
              <a:lnSpc>
                <a:spcPts val="6299"/>
              </a:lnSpc>
              <a:spcBef>
                <a:spcPct val="0"/>
              </a:spcBef>
              <a:buFont typeface="Arial"/>
              <a:buChar char="•"/>
            </a:pPr>
            <a:r>
              <a:rPr lang="en-US" sz="4499" spc="-179">
                <a:solidFill>
                  <a:srgbClr val="EFF3F6"/>
                </a:solidFill>
                <a:latin typeface="Times New Roman"/>
                <a:ea typeface="Times New Roman"/>
                <a:cs typeface="Times New Roman"/>
                <a:sym typeface="Times New Roman"/>
              </a:rPr>
              <a:t>recycler finder dashboard</a:t>
            </a:r>
          </a:p>
          <a:p>
            <a:pPr marL="971534" lvl="1" indent="-485767" algn="l">
              <a:lnSpc>
                <a:spcPts val="6299"/>
              </a:lnSpc>
              <a:spcBef>
                <a:spcPct val="0"/>
              </a:spcBef>
              <a:buFont typeface="Arial"/>
              <a:buChar char="•"/>
            </a:pPr>
            <a:r>
              <a:rPr lang="en-US" sz="4499" spc="-179">
                <a:solidFill>
                  <a:srgbClr val="EFF3F6"/>
                </a:solidFill>
                <a:latin typeface="Times New Roman"/>
                <a:ea typeface="Times New Roman"/>
                <a:cs typeface="Times New Roman"/>
                <a:sym typeface="Times New Roman"/>
              </a:rPr>
              <a:t>schedule pickup dashboard</a:t>
            </a:r>
          </a:p>
        </p:txBody>
      </p:sp>
      <p:sp>
        <p:nvSpPr>
          <p:cNvPr id="16" name="Freeform 16"/>
          <p:cNvSpPr/>
          <p:nvPr/>
        </p:nvSpPr>
        <p:spPr>
          <a:xfrm>
            <a:off x="14871053" y="8730915"/>
            <a:ext cx="688525" cy="688525"/>
          </a:xfrm>
          <a:custGeom>
            <a:avLst/>
            <a:gdLst/>
            <a:ahLst/>
            <a:cxnLst/>
            <a:rect l="l" t="t" r="r" b="b"/>
            <a:pathLst>
              <a:path w="688525" h="688525">
                <a:moveTo>
                  <a:pt x="0" y="0"/>
                </a:moveTo>
                <a:lnTo>
                  <a:pt x="688525" y="0"/>
                </a:lnTo>
                <a:lnTo>
                  <a:pt x="688525" y="688525"/>
                </a:lnTo>
                <a:lnTo>
                  <a:pt x="0" y="6885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KE"/>
          </a:p>
        </p:txBody>
      </p:sp>
      <p:sp>
        <p:nvSpPr>
          <p:cNvPr id="17" name="TextBox 17"/>
          <p:cNvSpPr txBox="1"/>
          <p:nvPr/>
        </p:nvSpPr>
        <p:spPr>
          <a:xfrm>
            <a:off x="11623623" y="8782675"/>
            <a:ext cx="2952155" cy="475625"/>
          </a:xfrm>
          <a:prstGeom prst="rect">
            <a:avLst/>
          </a:prstGeom>
        </p:spPr>
        <p:txBody>
          <a:bodyPr lIns="0" tIns="0" rIns="0" bIns="0" rtlCol="0" anchor="t">
            <a:spAutoFit/>
          </a:bodyPr>
          <a:lstStyle/>
          <a:p>
            <a:pPr algn="ctr">
              <a:lnSpc>
                <a:spcPts val="3709"/>
              </a:lnSpc>
              <a:spcBef>
                <a:spcPct val="0"/>
              </a:spcBef>
            </a:pPr>
            <a:r>
              <a:rPr lang="en-US" sz="2649" spc="-105">
                <a:solidFill>
                  <a:srgbClr val="FFFFFF"/>
                </a:solidFill>
                <a:latin typeface="Times New Roman"/>
                <a:ea typeface="Times New Roman"/>
                <a:cs typeface="Times New Roman"/>
                <a:sym typeface="Times New Roman"/>
              </a:rPr>
              <a:t>showing from next slide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348586" y="-2799141"/>
            <a:ext cx="2084152" cy="5598281"/>
            <a:chOff x="0" y="0"/>
            <a:chExt cx="548913" cy="1474444"/>
          </a:xfrm>
        </p:grpSpPr>
        <p:sp>
          <p:nvSpPr>
            <p:cNvPr id="3" name="Freeform 3"/>
            <p:cNvSpPr/>
            <p:nvPr/>
          </p:nvSpPr>
          <p:spPr>
            <a:xfrm>
              <a:off x="0" y="0"/>
              <a:ext cx="548913" cy="1474444"/>
            </a:xfrm>
            <a:custGeom>
              <a:avLst/>
              <a:gdLst/>
              <a:ahLst/>
              <a:cxnLst/>
              <a:rect l="l" t="t" r="r" b="b"/>
              <a:pathLst>
                <a:path w="548913" h="1474444">
                  <a:moveTo>
                    <a:pt x="0" y="0"/>
                  </a:moveTo>
                  <a:lnTo>
                    <a:pt x="548913" y="0"/>
                  </a:lnTo>
                  <a:lnTo>
                    <a:pt x="548913" y="1474444"/>
                  </a:lnTo>
                  <a:lnTo>
                    <a:pt x="0" y="1474444"/>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548913" cy="1512544"/>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2265249" y="7340931"/>
            <a:ext cx="2250826" cy="5598281"/>
            <a:chOff x="0" y="0"/>
            <a:chExt cx="592810" cy="1474444"/>
          </a:xfrm>
        </p:grpSpPr>
        <p:sp>
          <p:nvSpPr>
            <p:cNvPr id="6" name="Freeform 6"/>
            <p:cNvSpPr/>
            <p:nvPr/>
          </p:nvSpPr>
          <p:spPr>
            <a:xfrm>
              <a:off x="0" y="0"/>
              <a:ext cx="592810" cy="1474444"/>
            </a:xfrm>
            <a:custGeom>
              <a:avLst/>
              <a:gdLst/>
              <a:ahLst/>
              <a:cxnLst/>
              <a:rect l="l" t="t" r="r" b="b"/>
              <a:pathLst>
                <a:path w="592810" h="1474444">
                  <a:moveTo>
                    <a:pt x="0" y="0"/>
                  </a:moveTo>
                  <a:lnTo>
                    <a:pt x="592810" y="0"/>
                  </a:lnTo>
                  <a:lnTo>
                    <a:pt x="592810" y="1474444"/>
                  </a:lnTo>
                  <a:lnTo>
                    <a:pt x="0" y="1474444"/>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592810" cy="1512544"/>
            </a:xfrm>
            <a:prstGeom prst="rect">
              <a:avLst/>
            </a:prstGeom>
          </p:spPr>
          <p:txBody>
            <a:bodyPr lIns="50800" tIns="50800" rIns="50800" bIns="50800" rtlCol="0" anchor="ctr"/>
            <a:lstStyle/>
            <a:p>
              <a:pPr algn="ctr">
                <a:lnSpc>
                  <a:spcPts val="1960"/>
                </a:lnSpc>
              </a:pPr>
              <a:endParaRPr/>
            </a:p>
          </p:txBody>
        </p:sp>
      </p:grpSp>
      <p:sp>
        <p:nvSpPr>
          <p:cNvPr id="8" name="Freeform 8">
            <a:hlinkClick r:id="rId2" action="ppaction://hlinkfile"/>
          </p:cNvPr>
          <p:cNvSpPr/>
          <p:nvPr/>
        </p:nvSpPr>
        <p:spPr>
          <a:xfrm>
            <a:off x="9144000" y="0"/>
            <a:ext cx="5257800" cy="10287000"/>
          </a:xfrm>
          <a:custGeom>
            <a:avLst/>
            <a:gdLst/>
            <a:ahLst/>
            <a:cxnLst/>
            <a:rect l="l" t="t" r="r" b="b"/>
            <a:pathLst>
              <a:path w="3819326" h="9590600">
                <a:moveTo>
                  <a:pt x="0" y="0"/>
                </a:moveTo>
                <a:lnTo>
                  <a:pt x="3819326" y="0"/>
                </a:lnTo>
                <a:lnTo>
                  <a:pt x="3819326" y="9590600"/>
                </a:lnTo>
                <a:lnTo>
                  <a:pt x="0" y="9590600"/>
                </a:lnTo>
                <a:lnTo>
                  <a:pt x="0" y="0"/>
                </a:lnTo>
                <a:close/>
              </a:path>
            </a:pathLst>
          </a:custGeom>
          <a:blipFill>
            <a:blip r:embed="rId3"/>
            <a:stretch>
              <a:fillRect t="-1106" r="-800" b="-801"/>
            </a:stretch>
          </a:blipFill>
        </p:spPr>
        <p:txBody>
          <a:bodyPr/>
          <a:lstStyle/>
          <a:p>
            <a:endParaRPr lang="en-KE"/>
          </a:p>
        </p:txBody>
      </p:sp>
      <p:sp>
        <p:nvSpPr>
          <p:cNvPr id="9" name="TextBox 9"/>
          <p:cNvSpPr txBox="1"/>
          <p:nvPr/>
        </p:nvSpPr>
        <p:spPr>
          <a:xfrm>
            <a:off x="1110186" y="2756468"/>
            <a:ext cx="4560952" cy="1849594"/>
          </a:xfrm>
          <a:prstGeom prst="rect">
            <a:avLst/>
          </a:prstGeom>
        </p:spPr>
        <p:txBody>
          <a:bodyPr lIns="0" tIns="0" rIns="0" bIns="0" rtlCol="0" anchor="t">
            <a:spAutoFit/>
          </a:bodyPr>
          <a:lstStyle/>
          <a:p>
            <a:pPr algn="l">
              <a:lnSpc>
                <a:spcPts val="6726"/>
              </a:lnSpc>
            </a:pPr>
            <a:r>
              <a:rPr lang="en-US" sz="8304" b="1" spc="-415">
                <a:solidFill>
                  <a:srgbClr val="C1FF72"/>
                </a:solidFill>
                <a:latin typeface="Times New Roman Bold"/>
                <a:ea typeface="Times New Roman Bold"/>
                <a:cs typeface="Times New Roman Bold"/>
                <a:sym typeface="Times New Roman Bold"/>
              </a:rPr>
              <a:t>Admin Dashboard</a:t>
            </a:r>
          </a:p>
        </p:txBody>
      </p:sp>
      <p:sp>
        <p:nvSpPr>
          <p:cNvPr id="10" name="TextBox 10"/>
          <p:cNvSpPr txBox="1"/>
          <p:nvPr/>
        </p:nvSpPr>
        <p:spPr>
          <a:xfrm>
            <a:off x="740481" y="5057775"/>
            <a:ext cx="5449321" cy="2178686"/>
          </a:xfrm>
          <a:prstGeom prst="rect">
            <a:avLst/>
          </a:prstGeom>
        </p:spPr>
        <p:txBody>
          <a:bodyPr lIns="0" tIns="0" rIns="0" bIns="0" rtlCol="0" anchor="t">
            <a:spAutoFit/>
          </a:bodyPr>
          <a:lstStyle/>
          <a:p>
            <a:pPr algn="ctr">
              <a:lnSpc>
                <a:spcPts val="4339"/>
              </a:lnSpc>
              <a:spcBef>
                <a:spcPct val="0"/>
              </a:spcBef>
            </a:pPr>
            <a:r>
              <a:rPr lang="en-US" sz="3099" spc="-123">
                <a:solidFill>
                  <a:srgbClr val="EFF3F6"/>
                </a:solidFill>
                <a:latin typeface="Times New Roman"/>
                <a:ea typeface="Times New Roman"/>
                <a:cs typeface="Times New Roman"/>
                <a:sym typeface="Times New Roman"/>
              </a:rPr>
              <a:t>Provides administrators with tools to manage users, monitor e-waste requests, approve pickups, and oversee system activities</a:t>
            </a:r>
          </a:p>
        </p:txBody>
      </p:sp>
      <p:sp>
        <p:nvSpPr>
          <p:cNvPr id="11" name="TextBox 11"/>
          <p:cNvSpPr txBox="1"/>
          <p:nvPr/>
        </p:nvSpPr>
        <p:spPr>
          <a:xfrm>
            <a:off x="15218931" y="5249202"/>
            <a:ext cx="1406723" cy="433045"/>
          </a:xfrm>
          <a:prstGeom prst="rect">
            <a:avLst/>
          </a:prstGeom>
        </p:spPr>
        <p:txBody>
          <a:bodyPr lIns="0" tIns="0" rIns="0" bIns="0" rtlCol="0" anchor="t">
            <a:spAutoFit/>
          </a:bodyPr>
          <a:lstStyle/>
          <a:p>
            <a:pPr algn="ctr">
              <a:lnSpc>
                <a:spcPts val="3431"/>
              </a:lnSpc>
              <a:spcBef>
                <a:spcPct val="0"/>
              </a:spcBef>
            </a:pPr>
            <a:r>
              <a:rPr lang="en-US" sz="2451" spc="-98">
                <a:solidFill>
                  <a:srgbClr val="EFF3F6"/>
                </a:solidFill>
                <a:latin typeface="Times New Roman"/>
                <a:ea typeface="Times New Roman"/>
                <a:cs typeface="Times New Roman"/>
                <a:sym typeface="Times New Roman"/>
              </a:rPr>
              <a:t>continuation</a:t>
            </a:r>
          </a:p>
        </p:txBody>
      </p:sp>
      <p:sp>
        <p:nvSpPr>
          <p:cNvPr id="12" name="Freeform 12"/>
          <p:cNvSpPr/>
          <p:nvPr/>
        </p:nvSpPr>
        <p:spPr>
          <a:xfrm>
            <a:off x="16915037" y="5143500"/>
            <a:ext cx="538747" cy="538747"/>
          </a:xfrm>
          <a:custGeom>
            <a:avLst/>
            <a:gdLst/>
            <a:ahLst/>
            <a:cxnLst/>
            <a:rect l="l" t="t" r="r" b="b"/>
            <a:pathLst>
              <a:path w="538747" h="538747">
                <a:moveTo>
                  <a:pt x="0" y="0"/>
                </a:moveTo>
                <a:lnTo>
                  <a:pt x="538747" y="0"/>
                </a:lnTo>
                <a:lnTo>
                  <a:pt x="538747" y="538747"/>
                </a:lnTo>
                <a:lnTo>
                  <a:pt x="0" y="5387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K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4846452" y="6845452"/>
            <a:ext cx="4501651" cy="2381444"/>
            <a:chOff x="0" y="0"/>
            <a:chExt cx="1185620" cy="627212"/>
          </a:xfrm>
        </p:grpSpPr>
        <p:sp>
          <p:nvSpPr>
            <p:cNvPr id="3" name="Freeform 3"/>
            <p:cNvSpPr/>
            <p:nvPr/>
          </p:nvSpPr>
          <p:spPr>
            <a:xfrm>
              <a:off x="0" y="0"/>
              <a:ext cx="1185620" cy="627212"/>
            </a:xfrm>
            <a:custGeom>
              <a:avLst/>
              <a:gdLst/>
              <a:ahLst/>
              <a:cxnLst/>
              <a:rect l="l" t="t" r="r" b="b"/>
              <a:pathLst>
                <a:path w="1185620" h="627212">
                  <a:moveTo>
                    <a:pt x="0" y="0"/>
                  </a:moveTo>
                  <a:lnTo>
                    <a:pt x="1185620" y="0"/>
                  </a:lnTo>
                  <a:lnTo>
                    <a:pt x="1185620" y="627212"/>
                  </a:lnTo>
                  <a:lnTo>
                    <a:pt x="0" y="627212"/>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1185620" cy="665312"/>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497879" y="8760421"/>
            <a:ext cx="1234086" cy="2229845"/>
            <a:chOff x="0" y="0"/>
            <a:chExt cx="325027" cy="587284"/>
          </a:xfrm>
        </p:grpSpPr>
        <p:sp>
          <p:nvSpPr>
            <p:cNvPr id="6" name="Freeform 6"/>
            <p:cNvSpPr/>
            <p:nvPr/>
          </p:nvSpPr>
          <p:spPr>
            <a:xfrm>
              <a:off x="0" y="0"/>
              <a:ext cx="325027" cy="587284"/>
            </a:xfrm>
            <a:custGeom>
              <a:avLst/>
              <a:gdLst/>
              <a:ahLst/>
              <a:cxnLst/>
              <a:rect l="l" t="t" r="r" b="b"/>
              <a:pathLst>
                <a:path w="325027" h="587284">
                  <a:moveTo>
                    <a:pt x="0" y="0"/>
                  </a:moveTo>
                  <a:lnTo>
                    <a:pt x="325027" y="0"/>
                  </a:lnTo>
                  <a:lnTo>
                    <a:pt x="325027" y="587284"/>
                  </a:lnTo>
                  <a:lnTo>
                    <a:pt x="0" y="587284"/>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325027" cy="625384"/>
            </a:xfrm>
            <a:prstGeom prst="rect">
              <a:avLst/>
            </a:prstGeom>
          </p:spPr>
          <p:txBody>
            <a:bodyPr lIns="50800" tIns="50800" rIns="50800" bIns="50800" rtlCol="0" anchor="ctr"/>
            <a:lstStyle/>
            <a:p>
              <a:pPr algn="ctr">
                <a:lnSpc>
                  <a:spcPts val="1960"/>
                </a:lnSpc>
              </a:pPr>
              <a:endParaRPr/>
            </a:p>
          </p:txBody>
        </p:sp>
      </p:grpSp>
      <p:sp>
        <p:nvSpPr>
          <p:cNvPr id="8" name="Freeform 8">
            <a:hlinkClick r:id="rId2" action="ppaction://hlinkfile"/>
          </p:cNvPr>
          <p:cNvSpPr/>
          <p:nvPr/>
        </p:nvSpPr>
        <p:spPr>
          <a:xfrm>
            <a:off x="6629400" y="0"/>
            <a:ext cx="4953000" cy="10286999"/>
          </a:xfrm>
          <a:custGeom>
            <a:avLst/>
            <a:gdLst/>
            <a:ahLst/>
            <a:cxnLst/>
            <a:rect l="l" t="t" r="r" b="b"/>
            <a:pathLst>
              <a:path w="3549335" h="9875343">
                <a:moveTo>
                  <a:pt x="0" y="0"/>
                </a:moveTo>
                <a:lnTo>
                  <a:pt x="3549336" y="0"/>
                </a:lnTo>
                <a:lnTo>
                  <a:pt x="3549336" y="9875342"/>
                </a:lnTo>
                <a:lnTo>
                  <a:pt x="0" y="9875342"/>
                </a:lnTo>
                <a:lnTo>
                  <a:pt x="0" y="0"/>
                </a:lnTo>
                <a:close/>
              </a:path>
            </a:pathLst>
          </a:custGeom>
          <a:blipFill>
            <a:blip r:embed="rId3"/>
            <a:stretch>
              <a:fillRect t="-509" b="-509"/>
            </a:stretch>
          </a:blipFill>
        </p:spPr>
        <p:txBody>
          <a:bodyPr/>
          <a:lstStyle/>
          <a:p>
            <a:endParaRPr lang="en-K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189355" y="-3440661"/>
            <a:ext cx="2084152" cy="6462862"/>
            <a:chOff x="0" y="0"/>
            <a:chExt cx="548913" cy="1702153"/>
          </a:xfrm>
        </p:grpSpPr>
        <p:sp>
          <p:nvSpPr>
            <p:cNvPr id="3" name="Freeform 3"/>
            <p:cNvSpPr/>
            <p:nvPr/>
          </p:nvSpPr>
          <p:spPr>
            <a:xfrm>
              <a:off x="0" y="0"/>
              <a:ext cx="548913" cy="1702153"/>
            </a:xfrm>
            <a:custGeom>
              <a:avLst/>
              <a:gdLst/>
              <a:ahLst/>
              <a:cxnLst/>
              <a:rect l="l" t="t" r="r" b="b"/>
              <a:pathLst>
                <a:path w="548913" h="1702153">
                  <a:moveTo>
                    <a:pt x="0" y="0"/>
                  </a:moveTo>
                  <a:lnTo>
                    <a:pt x="548913" y="0"/>
                  </a:lnTo>
                  <a:lnTo>
                    <a:pt x="548913" y="1702153"/>
                  </a:lnTo>
                  <a:lnTo>
                    <a:pt x="0" y="1702153"/>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548913" cy="1740253"/>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638536" y="8067578"/>
            <a:ext cx="4501651" cy="2381444"/>
            <a:chOff x="0" y="0"/>
            <a:chExt cx="1185620" cy="627212"/>
          </a:xfrm>
        </p:grpSpPr>
        <p:sp>
          <p:nvSpPr>
            <p:cNvPr id="6" name="Freeform 6"/>
            <p:cNvSpPr/>
            <p:nvPr/>
          </p:nvSpPr>
          <p:spPr>
            <a:xfrm>
              <a:off x="0" y="0"/>
              <a:ext cx="1185620" cy="627212"/>
            </a:xfrm>
            <a:custGeom>
              <a:avLst/>
              <a:gdLst/>
              <a:ahLst/>
              <a:cxnLst/>
              <a:rect l="l" t="t" r="r" b="b"/>
              <a:pathLst>
                <a:path w="1185620" h="627212">
                  <a:moveTo>
                    <a:pt x="0" y="0"/>
                  </a:moveTo>
                  <a:lnTo>
                    <a:pt x="1185620" y="0"/>
                  </a:lnTo>
                  <a:lnTo>
                    <a:pt x="1185620" y="627212"/>
                  </a:lnTo>
                  <a:lnTo>
                    <a:pt x="0" y="627212"/>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1185620" cy="665312"/>
            </a:xfrm>
            <a:prstGeom prst="rect">
              <a:avLst/>
            </a:prstGeom>
          </p:spPr>
          <p:txBody>
            <a:bodyPr lIns="50800" tIns="50800" rIns="50800" bIns="50800" rtlCol="0" anchor="ctr"/>
            <a:lstStyle/>
            <a:p>
              <a:pPr algn="ctr">
                <a:lnSpc>
                  <a:spcPts val="1960"/>
                </a:lnSpc>
              </a:pPr>
              <a:endParaRPr/>
            </a:p>
          </p:txBody>
        </p:sp>
      </p:grpSp>
      <p:grpSp>
        <p:nvGrpSpPr>
          <p:cNvPr id="8" name="Group 8"/>
          <p:cNvGrpSpPr/>
          <p:nvPr/>
        </p:nvGrpSpPr>
        <p:grpSpPr>
          <a:xfrm rot="-5400000">
            <a:off x="4030888" y="8760421"/>
            <a:ext cx="1234086" cy="2229845"/>
            <a:chOff x="0" y="0"/>
            <a:chExt cx="325027" cy="587284"/>
          </a:xfrm>
        </p:grpSpPr>
        <p:sp>
          <p:nvSpPr>
            <p:cNvPr id="9" name="Freeform 9"/>
            <p:cNvSpPr/>
            <p:nvPr/>
          </p:nvSpPr>
          <p:spPr>
            <a:xfrm>
              <a:off x="0" y="0"/>
              <a:ext cx="325027" cy="587284"/>
            </a:xfrm>
            <a:custGeom>
              <a:avLst/>
              <a:gdLst/>
              <a:ahLst/>
              <a:cxnLst/>
              <a:rect l="l" t="t" r="r" b="b"/>
              <a:pathLst>
                <a:path w="325027" h="587284">
                  <a:moveTo>
                    <a:pt x="0" y="0"/>
                  </a:moveTo>
                  <a:lnTo>
                    <a:pt x="325027" y="0"/>
                  </a:lnTo>
                  <a:lnTo>
                    <a:pt x="325027" y="587284"/>
                  </a:lnTo>
                  <a:lnTo>
                    <a:pt x="0" y="587284"/>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10" name="TextBox 10"/>
            <p:cNvSpPr txBox="1"/>
            <p:nvPr/>
          </p:nvSpPr>
          <p:spPr>
            <a:xfrm>
              <a:off x="0" y="-38100"/>
              <a:ext cx="325027" cy="625384"/>
            </a:xfrm>
            <a:prstGeom prst="rect">
              <a:avLst/>
            </a:prstGeom>
          </p:spPr>
          <p:txBody>
            <a:bodyPr lIns="50800" tIns="50800" rIns="50800" bIns="50800" rtlCol="0" anchor="ctr"/>
            <a:lstStyle/>
            <a:p>
              <a:pPr algn="ctr">
                <a:lnSpc>
                  <a:spcPts val="1960"/>
                </a:lnSpc>
              </a:pPr>
              <a:endParaRPr/>
            </a:p>
          </p:txBody>
        </p:sp>
      </p:grpSp>
      <p:sp>
        <p:nvSpPr>
          <p:cNvPr id="11" name="Freeform 11">
            <a:hlinkClick r:id="rId2" action="ppaction://hlinkfile"/>
          </p:cNvPr>
          <p:cNvSpPr/>
          <p:nvPr/>
        </p:nvSpPr>
        <p:spPr>
          <a:xfrm>
            <a:off x="10134600" y="0"/>
            <a:ext cx="5181600" cy="10287000"/>
          </a:xfrm>
          <a:custGeom>
            <a:avLst/>
            <a:gdLst/>
            <a:ahLst/>
            <a:cxnLst/>
            <a:rect l="l" t="t" r="r" b="b"/>
            <a:pathLst>
              <a:path w="4365561" h="9954215">
                <a:moveTo>
                  <a:pt x="0" y="0"/>
                </a:moveTo>
                <a:lnTo>
                  <a:pt x="4365561" y="0"/>
                </a:lnTo>
                <a:lnTo>
                  <a:pt x="4365561" y="9954216"/>
                </a:lnTo>
                <a:lnTo>
                  <a:pt x="0" y="9954216"/>
                </a:lnTo>
                <a:lnTo>
                  <a:pt x="0" y="0"/>
                </a:lnTo>
                <a:close/>
              </a:path>
            </a:pathLst>
          </a:custGeom>
          <a:blipFill>
            <a:blip r:embed="rId3"/>
            <a:stretch>
              <a:fillRect l="-336" t="-3490" r="-336"/>
            </a:stretch>
          </a:blipFill>
        </p:spPr>
        <p:txBody>
          <a:bodyPr/>
          <a:lstStyle/>
          <a:p>
            <a:endParaRPr lang="en-KE"/>
          </a:p>
        </p:txBody>
      </p:sp>
      <p:sp>
        <p:nvSpPr>
          <p:cNvPr id="12" name="TextBox 12"/>
          <p:cNvSpPr txBox="1"/>
          <p:nvPr/>
        </p:nvSpPr>
        <p:spPr>
          <a:xfrm>
            <a:off x="421567" y="599485"/>
            <a:ext cx="6222883" cy="4544015"/>
          </a:xfrm>
          <a:prstGeom prst="rect">
            <a:avLst/>
          </a:prstGeom>
        </p:spPr>
        <p:txBody>
          <a:bodyPr lIns="0" tIns="0" rIns="0" bIns="0" rtlCol="0" anchor="t">
            <a:spAutoFit/>
          </a:bodyPr>
          <a:lstStyle/>
          <a:p>
            <a:pPr algn="l">
              <a:lnSpc>
                <a:spcPts val="6806"/>
              </a:lnSpc>
            </a:pPr>
            <a:r>
              <a:rPr lang="en-US" sz="8402" b="1" spc="-420">
                <a:solidFill>
                  <a:srgbClr val="C1FF72"/>
                </a:solidFill>
                <a:latin typeface="Times New Roman Bold"/>
                <a:ea typeface="Times New Roman Bold"/>
                <a:cs typeface="Times New Roman Bold"/>
                <a:sym typeface="Times New Roman Bold"/>
              </a:rPr>
              <a:t>E-Waste Disposal Dashboard</a:t>
            </a:r>
          </a:p>
          <a:p>
            <a:pPr algn="l">
              <a:lnSpc>
                <a:spcPts val="6806"/>
              </a:lnSpc>
            </a:pPr>
            <a:endParaRPr lang="en-US" sz="8402" b="1" spc="-420">
              <a:solidFill>
                <a:srgbClr val="C1FF72"/>
              </a:solidFill>
              <a:latin typeface="Times New Roman Bold"/>
              <a:ea typeface="Times New Roman Bold"/>
              <a:cs typeface="Times New Roman Bold"/>
              <a:sym typeface="Times New Roman Bold"/>
            </a:endParaRPr>
          </a:p>
          <a:p>
            <a:pPr algn="l">
              <a:lnSpc>
                <a:spcPts val="2834"/>
              </a:lnSpc>
            </a:pPr>
            <a:r>
              <a:rPr lang="en-US" sz="3499" spc="-174">
                <a:solidFill>
                  <a:srgbClr val="EFF3F6"/>
                </a:solidFill>
                <a:latin typeface="Times New Roman"/>
                <a:ea typeface="Times New Roman"/>
                <a:cs typeface="Times New Roman"/>
                <a:sym typeface="Times New Roman"/>
              </a:rPr>
              <a:t>Allows users to submit e-waste disposal requests and track the status of their submissions.</a:t>
            </a:r>
          </a:p>
          <a:p>
            <a:pPr algn="l">
              <a:lnSpc>
                <a:spcPts val="465"/>
              </a:lnSpc>
            </a:pPr>
            <a:endParaRPr lang="en-US" sz="3499" spc="-174">
              <a:solidFill>
                <a:srgbClr val="EFF3F6"/>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3872731" y="-3373193"/>
            <a:ext cx="2084152" cy="6746386"/>
            <a:chOff x="0" y="0"/>
            <a:chExt cx="548913" cy="1776826"/>
          </a:xfrm>
        </p:grpSpPr>
        <p:sp>
          <p:nvSpPr>
            <p:cNvPr id="3" name="Freeform 3"/>
            <p:cNvSpPr/>
            <p:nvPr/>
          </p:nvSpPr>
          <p:spPr>
            <a:xfrm>
              <a:off x="0" y="0"/>
              <a:ext cx="548913" cy="1776826"/>
            </a:xfrm>
            <a:custGeom>
              <a:avLst/>
              <a:gdLst/>
              <a:ahLst/>
              <a:cxnLst/>
              <a:rect l="l" t="t" r="r" b="b"/>
              <a:pathLst>
                <a:path w="548913" h="1776826">
                  <a:moveTo>
                    <a:pt x="0" y="0"/>
                  </a:moveTo>
                  <a:lnTo>
                    <a:pt x="548913" y="0"/>
                  </a:lnTo>
                  <a:lnTo>
                    <a:pt x="548913" y="1776826"/>
                  </a:lnTo>
                  <a:lnTo>
                    <a:pt x="0" y="1776826"/>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548913" cy="1814926"/>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4846452" y="8067578"/>
            <a:ext cx="4501651" cy="2381444"/>
            <a:chOff x="0" y="0"/>
            <a:chExt cx="1185620" cy="627212"/>
          </a:xfrm>
        </p:grpSpPr>
        <p:sp>
          <p:nvSpPr>
            <p:cNvPr id="6" name="Freeform 6"/>
            <p:cNvSpPr/>
            <p:nvPr/>
          </p:nvSpPr>
          <p:spPr>
            <a:xfrm>
              <a:off x="0" y="0"/>
              <a:ext cx="1185620" cy="627212"/>
            </a:xfrm>
            <a:custGeom>
              <a:avLst/>
              <a:gdLst/>
              <a:ahLst/>
              <a:cxnLst/>
              <a:rect l="l" t="t" r="r" b="b"/>
              <a:pathLst>
                <a:path w="1185620" h="627212">
                  <a:moveTo>
                    <a:pt x="0" y="0"/>
                  </a:moveTo>
                  <a:lnTo>
                    <a:pt x="1185620" y="0"/>
                  </a:lnTo>
                  <a:lnTo>
                    <a:pt x="1185620" y="627212"/>
                  </a:lnTo>
                  <a:lnTo>
                    <a:pt x="0" y="627212"/>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1185620" cy="665312"/>
            </a:xfrm>
            <a:prstGeom prst="rect">
              <a:avLst/>
            </a:prstGeom>
          </p:spPr>
          <p:txBody>
            <a:bodyPr lIns="50800" tIns="50800" rIns="50800" bIns="50800" rtlCol="0" anchor="ctr"/>
            <a:lstStyle/>
            <a:p>
              <a:pPr algn="ctr">
                <a:lnSpc>
                  <a:spcPts val="1960"/>
                </a:lnSpc>
              </a:pPr>
              <a:endParaRPr/>
            </a:p>
          </p:txBody>
        </p:sp>
      </p:grpSp>
      <p:grpSp>
        <p:nvGrpSpPr>
          <p:cNvPr id="8" name="Group 8"/>
          <p:cNvGrpSpPr/>
          <p:nvPr/>
        </p:nvGrpSpPr>
        <p:grpSpPr>
          <a:xfrm>
            <a:off x="-205386" y="-455758"/>
            <a:ext cx="1234086" cy="2229845"/>
            <a:chOff x="0" y="0"/>
            <a:chExt cx="325027" cy="587284"/>
          </a:xfrm>
        </p:grpSpPr>
        <p:sp>
          <p:nvSpPr>
            <p:cNvPr id="9" name="Freeform 9"/>
            <p:cNvSpPr/>
            <p:nvPr/>
          </p:nvSpPr>
          <p:spPr>
            <a:xfrm>
              <a:off x="0" y="0"/>
              <a:ext cx="325027" cy="587284"/>
            </a:xfrm>
            <a:custGeom>
              <a:avLst/>
              <a:gdLst/>
              <a:ahLst/>
              <a:cxnLst/>
              <a:rect l="l" t="t" r="r" b="b"/>
              <a:pathLst>
                <a:path w="325027" h="587284">
                  <a:moveTo>
                    <a:pt x="0" y="0"/>
                  </a:moveTo>
                  <a:lnTo>
                    <a:pt x="325027" y="0"/>
                  </a:lnTo>
                  <a:lnTo>
                    <a:pt x="325027" y="587284"/>
                  </a:lnTo>
                  <a:lnTo>
                    <a:pt x="0" y="587284"/>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10" name="TextBox 10"/>
            <p:cNvSpPr txBox="1"/>
            <p:nvPr/>
          </p:nvSpPr>
          <p:spPr>
            <a:xfrm>
              <a:off x="0" y="-38100"/>
              <a:ext cx="325027" cy="625384"/>
            </a:xfrm>
            <a:prstGeom prst="rect">
              <a:avLst/>
            </a:prstGeom>
          </p:spPr>
          <p:txBody>
            <a:bodyPr lIns="50800" tIns="50800" rIns="50800" bIns="50800" rtlCol="0" anchor="ctr"/>
            <a:lstStyle/>
            <a:p>
              <a:pPr algn="ctr">
                <a:lnSpc>
                  <a:spcPts val="1960"/>
                </a:lnSpc>
              </a:pPr>
              <a:endParaRPr/>
            </a:p>
          </p:txBody>
        </p:sp>
      </p:grpSp>
      <p:sp>
        <p:nvSpPr>
          <p:cNvPr id="11" name="Freeform 11">
            <a:hlinkClick r:id="rId2" action="ppaction://hlinkfile"/>
          </p:cNvPr>
          <p:cNvSpPr/>
          <p:nvPr/>
        </p:nvSpPr>
        <p:spPr>
          <a:xfrm>
            <a:off x="2590800" y="0"/>
            <a:ext cx="5058152" cy="10172700"/>
          </a:xfrm>
          <a:custGeom>
            <a:avLst/>
            <a:gdLst/>
            <a:ahLst/>
            <a:cxnLst/>
            <a:rect l="l" t="t" r="r" b="b"/>
            <a:pathLst>
              <a:path w="3991352" h="9401270">
                <a:moveTo>
                  <a:pt x="0" y="0"/>
                </a:moveTo>
                <a:lnTo>
                  <a:pt x="3991352" y="0"/>
                </a:lnTo>
                <a:lnTo>
                  <a:pt x="3991352" y="9401270"/>
                </a:lnTo>
                <a:lnTo>
                  <a:pt x="0" y="9401270"/>
                </a:lnTo>
                <a:lnTo>
                  <a:pt x="0" y="0"/>
                </a:lnTo>
                <a:close/>
              </a:path>
            </a:pathLst>
          </a:custGeom>
          <a:blipFill>
            <a:blip r:embed="rId3"/>
            <a:stretch>
              <a:fillRect l="-646" r="-646"/>
            </a:stretch>
          </a:blipFill>
        </p:spPr>
        <p:txBody>
          <a:bodyPr/>
          <a:lstStyle/>
          <a:p>
            <a:endParaRPr lang="en-KE"/>
          </a:p>
        </p:txBody>
      </p:sp>
      <p:sp>
        <p:nvSpPr>
          <p:cNvPr id="12" name="TextBox 12"/>
          <p:cNvSpPr txBox="1"/>
          <p:nvPr/>
        </p:nvSpPr>
        <p:spPr>
          <a:xfrm>
            <a:off x="11064893" y="1780344"/>
            <a:ext cx="6975682" cy="2109041"/>
          </a:xfrm>
          <a:prstGeom prst="rect">
            <a:avLst/>
          </a:prstGeom>
        </p:spPr>
        <p:txBody>
          <a:bodyPr lIns="0" tIns="0" rIns="0" bIns="0" rtlCol="0" anchor="t">
            <a:spAutoFit/>
          </a:bodyPr>
          <a:lstStyle/>
          <a:p>
            <a:pPr algn="l">
              <a:lnSpc>
                <a:spcPts val="7698"/>
              </a:lnSpc>
            </a:pPr>
            <a:r>
              <a:rPr lang="en-US" sz="9504" b="1" spc="-475">
                <a:solidFill>
                  <a:srgbClr val="C1FF72"/>
                </a:solidFill>
                <a:latin typeface="Times New Roman Bold"/>
                <a:ea typeface="Times New Roman Bold"/>
                <a:cs typeface="Times New Roman Bold"/>
                <a:sym typeface="Times New Roman Bold"/>
              </a:rPr>
              <a:t>Find Recyclers Dashboard</a:t>
            </a:r>
          </a:p>
        </p:txBody>
      </p:sp>
      <p:sp>
        <p:nvSpPr>
          <p:cNvPr id="13" name="TextBox 13"/>
          <p:cNvSpPr txBox="1"/>
          <p:nvPr/>
        </p:nvSpPr>
        <p:spPr>
          <a:xfrm>
            <a:off x="11541614" y="4227602"/>
            <a:ext cx="6498961" cy="1972946"/>
          </a:xfrm>
          <a:prstGeom prst="rect">
            <a:avLst/>
          </a:prstGeom>
        </p:spPr>
        <p:txBody>
          <a:bodyPr lIns="0" tIns="0" rIns="0" bIns="0" rtlCol="0" anchor="t">
            <a:spAutoFit/>
          </a:bodyPr>
          <a:lstStyle/>
          <a:p>
            <a:pPr algn="ctr">
              <a:lnSpc>
                <a:spcPts val="5179"/>
              </a:lnSpc>
              <a:spcBef>
                <a:spcPct val="0"/>
              </a:spcBef>
            </a:pPr>
            <a:r>
              <a:rPr lang="en-US" sz="3699" spc="-147">
                <a:solidFill>
                  <a:srgbClr val="EFF3F6"/>
                </a:solidFill>
                <a:latin typeface="Times New Roman"/>
                <a:ea typeface="Times New Roman"/>
                <a:cs typeface="Times New Roman"/>
                <a:sym typeface="Times New Roman"/>
              </a:rPr>
              <a:t>Enables users to search for and view available e-waste recycling centers based on their location.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331117" y="6730068"/>
            <a:ext cx="2084152" cy="6746386"/>
            <a:chOff x="0" y="0"/>
            <a:chExt cx="548913" cy="1776826"/>
          </a:xfrm>
        </p:grpSpPr>
        <p:sp>
          <p:nvSpPr>
            <p:cNvPr id="3" name="Freeform 3"/>
            <p:cNvSpPr/>
            <p:nvPr/>
          </p:nvSpPr>
          <p:spPr>
            <a:xfrm>
              <a:off x="0" y="0"/>
              <a:ext cx="548913" cy="1776826"/>
            </a:xfrm>
            <a:custGeom>
              <a:avLst/>
              <a:gdLst/>
              <a:ahLst/>
              <a:cxnLst/>
              <a:rect l="l" t="t" r="r" b="b"/>
              <a:pathLst>
                <a:path w="548913" h="1776826">
                  <a:moveTo>
                    <a:pt x="0" y="0"/>
                  </a:moveTo>
                  <a:lnTo>
                    <a:pt x="548913" y="0"/>
                  </a:lnTo>
                  <a:lnTo>
                    <a:pt x="548913" y="1776826"/>
                  </a:lnTo>
                  <a:lnTo>
                    <a:pt x="0" y="1776826"/>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548913" cy="1814926"/>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4846452" y="8067578"/>
            <a:ext cx="4501651" cy="2381444"/>
            <a:chOff x="0" y="0"/>
            <a:chExt cx="1185620" cy="627212"/>
          </a:xfrm>
        </p:grpSpPr>
        <p:sp>
          <p:nvSpPr>
            <p:cNvPr id="6" name="Freeform 6"/>
            <p:cNvSpPr/>
            <p:nvPr/>
          </p:nvSpPr>
          <p:spPr>
            <a:xfrm>
              <a:off x="0" y="0"/>
              <a:ext cx="1185620" cy="627212"/>
            </a:xfrm>
            <a:custGeom>
              <a:avLst/>
              <a:gdLst/>
              <a:ahLst/>
              <a:cxnLst/>
              <a:rect l="l" t="t" r="r" b="b"/>
              <a:pathLst>
                <a:path w="1185620" h="627212">
                  <a:moveTo>
                    <a:pt x="0" y="0"/>
                  </a:moveTo>
                  <a:lnTo>
                    <a:pt x="1185620" y="0"/>
                  </a:lnTo>
                  <a:lnTo>
                    <a:pt x="1185620" y="627212"/>
                  </a:lnTo>
                  <a:lnTo>
                    <a:pt x="0" y="627212"/>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1185620" cy="665312"/>
            </a:xfrm>
            <a:prstGeom prst="rect">
              <a:avLst/>
            </a:prstGeom>
          </p:spPr>
          <p:txBody>
            <a:bodyPr lIns="50800" tIns="50800" rIns="50800" bIns="50800" rtlCol="0" anchor="ctr"/>
            <a:lstStyle/>
            <a:p>
              <a:pPr algn="ctr">
                <a:lnSpc>
                  <a:spcPts val="1960"/>
                </a:lnSpc>
              </a:pPr>
              <a:endParaRPr/>
            </a:p>
          </p:txBody>
        </p:sp>
      </p:grpSp>
      <p:grpSp>
        <p:nvGrpSpPr>
          <p:cNvPr id="8" name="Group 8"/>
          <p:cNvGrpSpPr/>
          <p:nvPr/>
        </p:nvGrpSpPr>
        <p:grpSpPr>
          <a:xfrm>
            <a:off x="-205386" y="-455758"/>
            <a:ext cx="1234086" cy="2229845"/>
            <a:chOff x="0" y="0"/>
            <a:chExt cx="325027" cy="587284"/>
          </a:xfrm>
        </p:grpSpPr>
        <p:sp>
          <p:nvSpPr>
            <p:cNvPr id="9" name="Freeform 9"/>
            <p:cNvSpPr/>
            <p:nvPr/>
          </p:nvSpPr>
          <p:spPr>
            <a:xfrm>
              <a:off x="0" y="0"/>
              <a:ext cx="325027" cy="587284"/>
            </a:xfrm>
            <a:custGeom>
              <a:avLst/>
              <a:gdLst/>
              <a:ahLst/>
              <a:cxnLst/>
              <a:rect l="l" t="t" r="r" b="b"/>
              <a:pathLst>
                <a:path w="325027" h="587284">
                  <a:moveTo>
                    <a:pt x="0" y="0"/>
                  </a:moveTo>
                  <a:lnTo>
                    <a:pt x="325027" y="0"/>
                  </a:lnTo>
                  <a:lnTo>
                    <a:pt x="325027" y="587284"/>
                  </a:lnTo>
                  <a:lnTo>
                    <a:pt x="0" y="587284"/>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10" name="TextBox 10"/>
            <p:cNvSpPr txBox="1"/>
            <p:nvPr/>
          </p:nvSpPr>
          <p:spPr>
            <a:xfrm>
              <a:off x="0" y="-38100"/>
              <a:ext cx="325027" cy="625384"/>
            </a:xfrm>
            <a:prstGeom prst="rect">
              <a:avLst/>
            </a:prstGeom>
          </p:spPr>
          <p:txBody>
            <a:bodyPr lIns="50800" tIns="50800" rIns="50800" bIns="50800" rtlCol="0" anchor="ctr"/>
            <a:lstStyle/>
            <a:p>
              <a:pPr algn="ctr">
                <a:lnSpc>
                  <a:spcPts val="1960"/>
                </a:lnSpc>
              </a:pPr>
              <a:endParaRPr/>
            </a:p>
          </p:txBody>
        </p:sp>
      </p:grpSp>
      <p:sp>
        <p:nvSpPr>
          <p:cNvPr id="11" name="Freeform 11">
            <a:hlinkClick r:id="rId2" action="ppaction://hlinkfile"/>
          </p:cNvPr>
          <p:cNvSpPr/>
          <p:nvPr/>
        </p:nvSpPr>
        <p:spPr>
          <a:xfrm>
            <a:off x="9144000" y="0"/>
            <a:ext cx="5257800" cy="10287000"/>
          </a:xfrm>
          <a:custGeom>
            <a:avLst/>
            <a:gdLst/>
            <a:ahLst/>
            <a:cxnLst/>
            <a:rect l="l" t="t" r="r" b="b"/>
            <a:pathLst>
              <a:path w="3516122" h="9882852">
                <a:moveTo>
                  <a:pt x="0" y="0"/>
                </a:moveTo>
                <a:lnTo>
                  <a:pt x="3516123" y="0"/>
                </a:lnTo>
                <a:lnTo>
                  <a:pt x="3516123" y="9882852"/>
                </a:lnTo>
                <a:lnTo>
                  <a:pt x="0" y="9882852"/>
                </a:lnTo>
                <a:lnTo>
                  <a:pt x="0" y="0"/>
                </a:lnTo>
                <a:close/>
              </a:path>
            </a:pathLst>
          </a:custGeom>
          <a:blipFill>
            <a:blip r:embed="rId3"/>
            <a:stretch>
              <a:fillRect l="-722" r="-722"/>
            </a:stretch>
          </a:blipFill>
        </p:spPr>
        <p:txBody>
          <a:bodyPr/>
          <a:lstStyle/>
          <a:p>
            <a:endParaRPr lang="en-KE"/>
          </a:p>
        </p:txBody>
      </p:sp>
      <p:sp>
        <p:nvSpPr>
          <p:cNvPr id="12" name="TextBox 12"/>
          <p:cNvSpPr txBox="1"/>
          <p:nvPr/>
        </p:nvSpPr>
        <p:spPr>
          <a:xfrm>
            <a:off x="411657" y="2213811"/>
            <a:ext cx="6975682" cy="3080591"/>
          </a:xfrm>
          <a:prstGeom prst="rect">
            <a:avLst/>
          </a:prstGeom>
        </p:spPr>
        <p:txBody>
          <a:bodyPr lIns="0" tIns="0" rIns="0" bIns="0" rtlCol="0" anchor="t">
            <a:spAutoFit/>
          </a:bodyPr>
          <a:lstStyle/>
          <a:p>
            <a:pPr algn="l">
              <a:lnSpc>
                <a:spcPts val="7698"/>
              </a:lnSpc>
            </a:pPr>
            <a:r>
              <a:rPr lang="en-US" sz="9504" b="1" spc="-475">
                <a:solidFill>
                  <a:srgbClr val="C1FF72"/>
                </a:solidFill>
                <a:latin typeface="Times New Roman Bold"/>
                <a:ea typeface="Times New Roman Bold"/>
                <a:cs typeface="Times New Roman Bold"/>
                <a:sym typeface="Times New Roman Bold"/>
              </a:rPr>
              <a:t>Schedule Pickup Dashboard</a:t>
            </a:r>
          </a:p>
        </p:txBody>
      </p:sp>
      <p:sp>
        <p:nvSpPr>
          <p:cNvPr id="13" name="TextBox 13"/>
          <p:cNvSpPr txBox="1"/>
          <p:nvPr/>
        </p:nvSpPr>
        <p:spPr>
          <a:xfrm>
            <a:off x="518413" y="5506968"/>
            <a:ext cx="5709560" cy="1690371"/>
          </a:xfrm>
          <a:prstGeom prst="rect">
            <a:avLst/>
          </a:prstGeom>
        </p:spPr>
        <p:txBody>
          <a:bodyPr lIns="0" tIns="0" rIns="0" bIns="0" rtlCol="0" anchor="t">
            <a:spAutoFit/>
          </a:bodyPr>
          <a:lstStyle/>
          <a:p>
            <a:pPr algn="ctr">
              <a:lnSpc>
                <a:spcPts val="4479"/>
              </a:lnSpc>
              <a:spcBef>
                <a:spcPct val="0"/>
              </a:spcBef>
            </a:pPr>
            <a:r>
              <a:rPr lang="en-US" sz="3199" spc="-127">
                <a:solidFill>
                  <a:srgbClr val="EFF3F6"/>
                </a:solidFill>
                <a:latin typeface="Times New Roman"/>
                <a:ea typeface="Times New Roman"/>
                <a:cs typeface="Times New Roman"/>
                <a:sym typeface="Times New Roman"/>
              </a:rPr>
              <a:t>Allows users to schedule e-waste collection by selecting a preferred date, time, and pickup location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359344" y="677335"/>
            <a:ext cx="4501651" cy="19631112"/>
            <a:chOff x="0" y="0"/>
            <a:chExt cx="1185620" cy="5170334"/>
          </a:xfrm>
        </p:grpSpPr>
        <p:sp>
          <p:nvSpPr>
            <p:cNvPr id="3" name="Freeform 3"/>
            <p:cNvSpPr/>
            <p:nvPr/>
          </p:nvSpPr>
          <p:spPr>
            <a:xfrm>
              <a:off x="0" y="0"/>
              <a:ext cx="1185620" cy="5170334"/>
            </a:xfrm>
            <a:custGeom>
              <a:avLst/>
              <a:gdLst/>
              <a:ahLst/>
              <a:cxnLst/>
              <a:rect l="l" t="t" r="r" b="b"/>
              <a:pathLst>
                <a:path w="1185620" h="5170334">
                  <a:moveTo>
                    <a:pt x="0" y="0"/>
                  </a:moveTo>
                  <a:lnTo>
                    <a:pt x="1185620" y="0"/>
                  </a:lnTo>
                  <a:lnTo>
                    <a:pt x="1185620" y="5170334"/>
                  </a:lnTo>
                  <a:lnTo>
                    <a:pt x="0" y="5170334"/>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4" name="TextBox 4"/>
            <p:cNvSpPr txBox="1"/>
            <p:nvPr/>
          </p:nvSpPr>
          <p:spPr>
            <a:xfrm>
              <a:off x="0" y="-38100"/>
              <a:ext cx="1185620" cy="5208434"/>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7853075" y="-8896692"/>
            <a:ext cx="2197669" cy="18991265"/>
            <a:chOff x="0" y="0"/>
            <a:chExt cx="578810" cy="5001815"/>
          </a:xfrm>
        </p:grpSpPr>
        <p:sp>
          <p:nvSpPr>
            <p:cNvPr id="6" name="Freeform 6"/>
            <p:cNvSpPr/>
            <p:nvPr/>
          </p:nvSpPr>
          <p:spPr>
            <a:xfrm>
              <a:off x="0" y="0"/>
              <a:ext cx="578810" cy="5001815"/>
            </a:xfrm>
            <a:custGeom>
              <a:avLst/>
              <a:gdLst/>
              <a:ahLst/>
              <a:cxnLst/>
              <a:rect l="l" t="t" r="r" b="b"/>
              <a:pathLst>
                <a:path w="578810" h="5001815">
                  <a:moveTo>
                    <a:pt x="0" y="0"/>
                  </a:moveTo>
                  <a:lnTo>
                    <a:pt x="578810" y="0"/>
                  </a:lnTo>
                  <a:lnTo>
                    <a:pt x="578810" y="5001815"/>
                  </a:lnTo>
                  <a:lnTo>
                    <a:pt x="0" y="5001815"/>
                  </a:lnTo>
                  <a:close/>
                </a:path>
              </a:pathLst>
            </a:custGeom>
            <a:gradFill rotWithShape="1">
              <a:gsLst>
                <a:gs pos="0">
                  <a:srgbClr val="C1FE72">
                    <a:alpha val="100000"/>
                  </a:srgbClr>
                </a:gs>
                <a:gs pos="100000">
                  <a:srgbClr val="C1FE72">
                    <a:alpha val="0"/>
                  </a:srgbClr>
                </a:gs>
              </a:gsLst>
              <a:lin ang="0"/>
            </a:gradFill>
          </p:spPr>
          <p:txBody>
            <a:bodyPr/>
            <a:lstStyle/>
            <a:p>
              <a:endParaRPr lang="en-KE"/>
            </a:p>
          </p:txBody>
        </p:sp>
        <p:sp>
          <p:nvSpPr>
            <p:cNvPr id="7" name="TextBox 7"/>
            <p:cNvSpPr txBox="1"/>
            <p:nvPr/>
          </p:nvSpPr>
          <p:spPr>
            <a:xfrm>
              <a:off x="0" y="-38100"/>
              <a:ext cx="578810" cy="503991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4470373" y="4503159"/>
            <a:ext cx="8963072" cy="1756932"/>
          </a:xfrm>
          <a:prstGeom prst="rect">
            <a:avLst/>
          </a:prstGeom>
        </p:spPr>
        <p:txBody>
          <a:bodyPr lIns="0" tIns="0" rIns="0" bIns="0" rtlCol="0" anchor="t">
            <a:spAutoFit/>
          </a:bodyPr>
          <a:lstStyle/>
          <a:p>
            <a:pPr algn="l">
              <a:lnSpc>
                <a:spcPts val="11909"/>
              </a:lnSpc>
            </a:pPr>
            <a:r>
              <a:rPr lang="en-US" sz="14702" b="1" spc="-735">
                <a:solidFill>
                  <a:srgbClr val="C1FF72"/>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343</Words>
  <Application>Microsoft Office PowerPoint</Application>
  <PresentationFormat>Custom</PresentationFormat>
  <Paragraphs>49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Times New Roman Bold</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E-Waste Management System</dc:title>
  <dc:creator>verity shuku</dc:creator>
  <cp:lastModifiedBy>Verity Shuku</cp:lastModifiedBy>
  <cp:revision>4</cp:revision>
  <dcterms:created xsi:type="dcterms:W3CDTF">2006-08-16T00:00:00Z</dcterms:created>
  <dcterms:modified xsi:type="dcterms:W3CDTF">2026-05-30T22:46:50Z</dcterms:modified>
  <dc:identifier>DAHLKPM8DBI</dc:identifier>
</cp:coreProperties>
</file>